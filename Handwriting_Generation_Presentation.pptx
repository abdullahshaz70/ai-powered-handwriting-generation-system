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B87343-393D-4DE9-B350-2E1949609798}">
  <a:tblStyle styleId="{26B87343-393D-4DE9-B350-2E19496097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2286000"/>
            <a:ext cx="12189000" cy="25602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2286000"/>
            <a:ext cx="164592" cy="256032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Handwriting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48640" y="1874519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Generation System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71600" y="2743200"/>
            <a:ext cx="941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Exploring 5 deep-learning approaches to generate realistic handwriting</a:t>
            </a:r>
            <a:endParaRPr sz="1500"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871715"/>
            <a:ext cx="103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Abdullah Shahzad</a:t>
            </a: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500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Abdullah Shafique</a:t>
            </a: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lang="en-US" sz="1500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Hamza Zeeshan</a:t>
            </a: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5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Salman Ejaz</a:t>
            </a:r>
            <a:endParaRPr sz="1500">
              <a:solidFill>
                <a:srgbClr val="FFC107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940625" y="5536625"/>
            <a:ext cx="137100" cy="137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529950" y="5536625"/>
            <a:ext cx="137100" cy="137100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7021275" y="5536600"/>
            <a:ext cx="137100" cy="137100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316650" y="5536625"/>
            <a:ext cx="164700" cy="13710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024300" y="2286000"/>
            <a:ext cx="164700" cy="256020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-50" y="4846325"/>
            <a:ext cx="164700" cy="239700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2024350" y="4846325"/>
            <a:ext cx="164700" cy="239700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What we built and why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48640" y="1143000"/>
            <a:ext cx="1097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What we built and why</a:t>
            </a:r>
            <a:endParaRPr sz="1500"/>
          </a:p>
        </p:txBody>
      </p:sp>
      <p:sp>
        <p:nvSpPr>
          <p:cNvPr id="110" name="Google Shape;110;p14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57200" y="1737360"/>
            <a:ext cx="3657600" cy="7315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40080" y="1874519"/>
            <a:ext cx="329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900"/>
          </a:p>
        </p:txBody>
      </p:sp>
      <p:sp>
        <p:nvSpPr>
          <p:cNvPr id="113" name="Google Shape;113;p14"/>
          <p:cNvSpPr txBox="1"/>
          <p:nvPr/>
        </p:nvSpPr>
        <p:spPr>
          <a:xfrm>
            <a:off x="640080" y="2286000"/>
            <a:ext cx="329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Build a system that generates realistic handwriting for any letter (a–z, A–Z) and digit (0–9) in the style of real writers.</a:t>
            </a:r>
            <a:endParaRPr sz="2100"/>
          </a:p>
        </p:txBody>
      </p:sp>
      <p:sp>
        <p:nvSpPr>
          <p:cNvPr id="114" name="Google Shape;114;p14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297680" y="1737360"/>
            <a:ext cx="3657600" cy="73152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480560" y="1874519"/>
            <a:ext cx="329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sz="1900"/>
          </a:p>
        </p:txBody>
      </p:sp>
      <p:sp>
        <p:nvSpPr>
          <p:cNvPr id="117" name="Google Shape;117;p14"/>
          <p:cNvSpPr txBox="1"/>
          <p:nvPr/>
        </p:nvSpPr>
        <p:spPr>
          <a:xfrm>
            <a:off x="4480560" y="2286000"/>
            <a:ext cx="3291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Handwriting is highly personal — same character looks completely different across writers. Models must capture style, not just shape.</a:t>
            </a:r>
            <a:endParaRPr sz="2100"/>
          </a:p>
        </p:txBody>
      </p:sp>
      <p:sp>
        <p:nvSpPr>
          <p:cNvPr id="118" name="Google Shape;118;p14"/>
          <p:cNvSpPr/>
          <p:nvPr/>
        </p:nvSpPr>
        <p:spPr>
          <a:xfrm>
            <a:off x="8138160" y="1737360"/>
            <a:ext cx="3657600" cy="43891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138160" y="1737360"/>
            <a:ext cx="3657600" cy="73152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321040" y="1874519"/>
            <a:ext cx="329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900"/>
          </a:p>
        </p:txBody>
      </p:sp>
      <p:sp>
        <p:nvSpPr>
          <p:cNvPr id="121" name="Google Shape;121;p14"/>
          <p:cNvSpPr txBox="1"/>
          <p:nvPr/>
        </p:nvSpPr>
        <p:spPr>
          <a:xfrm>
            <a:off x="8321040" y="2286000"/>
            <a:ext cx="32919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 designed and compared 5 different deep-learning methods ranging from GANs to Bézier-curve regressors, finding the best trade-off between complexity and quality.</a:t>
            </a:r>
            <a:endParaRPr sz="2100"/>
          </a:p>
        </p:txBody>
      </p:sp>
      <p:sp>
        <p:nvSpPr>
          <p:cNvPr id="122" name="Google Shape;122;p14"/>
          <p:cNvSpPr txBox="1"/>
          <p:nvPr/>
        </p:nvSpPr>
        <p:spPr>
          <a:xfrm>
            <a:off x="548640" y="6400800"/>
            <a:ext cx="1097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62 unique characters  ·  6 real writers  ·  ~2,100 handwriting samples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" y="1143000"/>
            <a:ext cx="1097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Real handwriting samples collected from 6 writers</a:t>
            </a:r>
            <a:endParaRPr sz="1500"/>
          </a:p>
        </p:txBody>
      </p:sp>
      <p:sp>
        <p:nvSpPr>
          <p:cNvPr id="131" name="Google Shape;131;p15"/>
          <p:cNvSpPr/>
          <p:nvPr/>
        </p:nvSpPr>
        <p:spPr>
          <a:xfrm>
            <a:off x="457200" y="1737360"/>
            <a:ext cx="2651760" cy="10972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566928" y="1783080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Writers</a:t>
            </a:r>
            <a:endParaRPr sz="1600"/>
          </a:p>
        </p:txBody>
      </p:sp>
      <p:sp>
        <p:nvSpPr>
          <p:cNvPr id="133" name="Google Shape;133;p15"/>
          <p:cNvSpPr txBox="1"/>
          <p:nvPr/>
        </p:nvSpPr>
        <p:spPr>
          <a:xfrm>
            <a:off x="566928" y="2011680"/>
            <a:ext cx="246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/>
          </a:p>
        </p:txBody>
      </p:sp>
      <p:sp>
        <p:nvSpPr>
          <p:cNvPr id="134" name="Google Shape;134;p15"/>
          <p:cNvSpPr txBox="1"/>
          <p:nvPr/>
        </p:nvSpPr>
        <p:spPr>
          <a:xfrm>
            <a:off x="566928" y="24505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383275" y="1737350"/>
            <a:ext cx="2377500" cy="10974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493008" y="1783080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PNG Samples</a:t>
            </a:r>
            <a:endParaRPr sz="1600"/>
          </a:p>
        </p:txBody>
      </p:sp>
      <p:sp>
        <p:nvSpPr>
          <p:cNvPr id="137" name="Google Shape;137;p15"/>
          <p:cNvSpPr txBox="1"/>
          <p:nvPr/>
        </p:nvSpPr>
        <p:spPr>
          <a:xfrm>
            <a:off x="3493008" y="2011680"/>
            <a:ext cx="246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~2,100</a:t>
            </a:r>
            <a:endParaRPr sz="1500"/>
          </a:p>
        </p:txBody>
      </p:sp>
      <p:sp>
        <p:nvSpPr>
          <p:cNvPr id="138" name="Google Shape;138;p15"/>
          <p:cNvSpPr txBox="1"/>
          <p:nvPr/>
        </p:nvSpPr>
        <p:spPr>
          <a:xfrm>
            <a:off x="3493008" y="24505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126475" y="1737350"/>
            <a:ext cx="2834700" cy="10974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419088" y="1783080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Characters</a:t>
            </a:r>
            <a:endParaRPr sz="1600"/>
          </a:p>
        </p:txBody>
      </p:sp>
      <p:sp>
        <p:nvSpPr>
          <p:cNvPr id="141" name="Google Shape;141;p15"/>
          <p:cNvSpPr txBox="1"/>
          <p:nvPr/>
        </p:nvSpPr>
        <p:spPr>
          <a:xfrm>
            <a:off x="6419088" y="2011680"/>
            <a:ext cx="246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sz="1500"/>
          </a:p>
        </p:txBody>
      </p:sp>
      <p:sp>
        <p:nvSpPr>
          <p:cNvPr id="142" name="Google Shape;142;p15"/>
          <p:cNvSpPr txBox="1"/>
          <p:nvPr/>
        </p:nvSpPr>
        <p:spPr>
          <a:xfrm>
            <a:off x="6419088" y="24505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235449" y="1737350"/>
            <a:ext cx="2469000" cy="10974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345168" y="1783080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Samples / char / writer</a:t>
            </a:r>
            <a:endParaRPr sz="1600"/>
          </a:p>
        </p:txBody>
      </p:sp>
      <p:sp>
        <p:nvSpPr>
          <p:cNvPr id="145" name="Google Shape;145;p15"/>
          <p:cNvSpPr txBox="1"/>
          <p:nvPr/>
        </p:nvSpPr>
        <p:spPr>
          <a:xfrm>
            <a:off x="9345168" y="2011680"/>
            <a:ext cx="246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~33</a:t>
            </a:r>
            <a:endParaRPr sz="1500"/>
          </a:p>
        </p:txBody>
      </p:sp>
      <p:sp>
        <p:nvSpPr>
          <p:cNvPr id="146" name="Google Shape;146;p15"/>
          <p:cNvSpPr txBox="1"/>
          <p:nvPr/>
        </p:nvSpPr>
        <p:spPr>
          <a:xfrm>
            <a:off x="9345168" y="24505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57200" y="3017520"/>
            <a:ext cx="5303520" cy="34747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40080" y="3154680"/>
            <a:ext cx="493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Writers</a:t>
            </a:r>
            <a:endParaRPr sz="1700"/>
          </a:p>
        </p:txBody>
      </p:sp>
      <p:sp>
        <p:nvSpPr>
          <p:cNvPr id="149" name="Google Shape;149;p15"/>
          <p:cNvSpPr txBox="1"/>
          <p:nvPr/>
        </p:nvSpPr>
        <p:spPr>
          <a:xfrm>
            <a:off x="640080" y="356616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writer_Abdullah</a:t>
            </a:r>
            <a:endParaRPr sz="1600"/>
          </a:p>
        </p:txBody>
      </p:sp>
      <p:sp>
        <p:nvSpPr>
          <p:cNvPr id="150" name="Google Shape;150;p15"/>
          <p:cNvSpPr txBox="1"/>
          <p:nvPr/>
        </p:nvSpPr>
        <p:spPr>
          <a:xfrm>
            <a:off x="640080" y="402336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writer_abdullah_60</a:t>
            </a:r>
            <a:endParaRPr sz="1600"/>
          </a:p>
        </p:txBody>
      </p:sp>
      <p:sp>
        <p:nvSpPr>
          <p:cNvPr id="151" name="Google Shape;151;p15"/>
          <p:cNvSpPr txBox="1"/>
          <p:nvPr/>
        </p:nvSpPr>
        <p:spPr>
          <a:xfrm>
            <a:off x="640080" y="448056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writer_Fatima</a:t>
            </a:r>
            <a:endParaRPr sz="1600"/>
          </a:p>
        </p:txBody>
      </p:sp>
      <p:sp>
        <p:nvSpPr>
          <p:cNvPr id="152" name="Google Shape;152;p15"/>
          <p:cNvSpPr txBox="1"/>
          <p:nvPr/>
        </p:nvSpPr>
        <p:spPr>
          <a:xfrm>
            <a:off x="640080" y="493776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writer_Hamza</a:t>
            </a:r>
            <a:endParaRPr sz="1600"/>
          </a:p>
        </p:txBody>
      </p:sp>
      <p:sp>
        <p:nvSpPr>
          <p:cNvPr id="153" name="Google Shape;153;p15"/>
          <p:cNvSpPr txBox="1"/>
          <p:nvPr/>
        </p:nvSpPr>
        <p:spPr>
          <a:xfrm>
            <a:off x="640080" y="539496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writer_Hashim</a:t>
            </a:r>
            <a:endParaRPr sz="1600"/>
          </a:p>
        </p:txBody>
      </p:sp>
      <p:sp>
        <p:nvSpPr>
          <p:cNvPr id="154" name="Google Shape;154;p15"/>
          <p:cNvSpPr txBox="1"/>
          <p:nvPr/>
        </p:nvSpPr>
        <p:spPr>
          <a:xfrm>
            <a:off x="640080" y="585216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writer_Salman_24067</a:t>
            </a:r>
            <a:endParaRPr sz="1600"/>
          </a:p>
        </p:txBody>
      </p:sp>
      <p:sp>
        <p:nvSpPr>
          <p:cNvPr id="155" name="Google Shape;155;p15"/>
          <p:cNvSpPr/>
          <p:nvPr/>
        </p:nvSpPr>
        <p:spPr>
          <a:xfrm>
            <a:off x="6126480" y="3017520"/>
            <a:ext cx="5577840" cy="34747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6309360" y="3154680"/>
            <a:ext cx="521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Character Set</a:t>
            </a:r>
            <a:endParaRPr sz="1900"/>
          </a:p>
        </p:txBody>
      </p:sp>
      <p:sp>
        <p:nvSpPr>
          <p:cNvPr id="157" name="Google Shape;157;p15"/>
          <p:cNvSpPr txBox="1"/>
          <p:nvPr/>
        </p:nvSpPr>
        <p:spPr>
          <a:xfrm>
            <a:off x="6309360" y="3611880"/>
            <a:ext cx="20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Lowercase</a:t>
            </a:r>
            <a:endParaRPr sz="1600"/>
          </a:p>
        </p:txBody>
      </p:sp>
      <p:sp>
        <p:nvSpPr>
          <p:cNvPr id="158" name="Google Shape;158;p15"/>
          <p:cNvSpPr txBox="1"/>
          <p:nvPr/>
        </p:nvSpPr>
        <p:spPr>
          <a:xfrm>
            <a:off x="8686800" y="3611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a – z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309360" y="4297680"/>
            <a:ext cx="20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Uppercase</a:t>
            </a:r>
            <a:endParaRPr sz="1600"/>
          </a:p>
        </p:txBody>
      </p:sp>
      <p:sp>
        <p:nvSpPr>
          <p:cNvPr id="160" name="Google Shape;160;p15"/>
          <p:cNvSpPr txBox="1"/>
          <p:nvPr/>
        </p:nvSpPr>
        <p:spPr>
          <a:xfrm>
            <a:off x="8686800" y="42976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A – Z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309360" y="4983480"/>
            <a:ext cx="20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Digits</a:t>
            </a:r>
            <a:endParaRPr sz="1600"/>
          </a:p>
        </p:txBody>
      </p:sp>
      <p:sp>
        <p:nvSpPr>
          <p:cNvPr id="162" name="Google Shape;162;p15"/>
          <p:cNvSpPr txBox="1"/>
          <p:nvPr/>
        </p:nvSpPr>
        <p:spPr>
          <a:xfrm>
            <a:off x="8686800" y="49834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0 – 9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309360" y="5669275"/>
            <a:ext cx="52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File pattern:  WriterName_lc_a_r01.png  (lc = lowercase, uc = uppercase, n = digit)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Approaches — Side by Side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48640" y="1143000"/>
            <a:ext cx="1097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We explored the solution space from pixel-level GANs to simple curve regressors</a:t>
            </a:r>
            <a:endParaRPr sz="1500"/>
          </a:p>
        </p:txBody>
      </p:sp>
      <p:graphicFrame>
        <p:nvGraphicFramePr>
          <p:cNvPr id="172" name="Google Shape;172;p16"/>
          <p:cNvGraphicFramePr/>
          <p:nvPr/>
        </p:nvGraphicFramePr>
        <p:xfrm>
          <a:off x="45720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{26B87343-393D-4DE9-B350-2E1949609798}</a:tableStyleId>
              </a:tblPr>
              <a:tblGrid>
                <a:gridCol w="411475"/>
                <a:gridCol w="1463050"/>
                <a:gridCol w="1280150"/>
                <a:gridCol w="4480550"/>
                <a:gridCol w="1737350"/>
              </a:tblGrid>
              <a:tr h="80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D1B2A"/>
                          </a:solidFill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1B2A"/>
                          </a:solidFill>
                        </a:rPr>
                        <a:t>Name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1B2A"/>
                          </a:solidFill>
                        </a:rPr>
                        <a:t>Generates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1B2A"/>
                          </a:solidFill>
                        </a:rPr>
                        <a:t>How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1B2A"/>
                          </a:solidFill>
                        </a:rPr>
                        <a:t>Outcome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</a:rPr>
                        <a:t>01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GAN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Yes — pixels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Style encoder + Generator + AC-GAN Discriminator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4545"/>
                          </a:solidFill>
                        </a:rPr>
                        <a:t>Mode collapse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</a:rPr>
                        <a:t>02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MultiTask CNN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C107"/>
                          </a:solidFill>
                        </a:rPr>
                        <a:t>No — classifier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Two heads: predicts char &amp; writer from real images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C107"/>
                          </a:solidFill>
                        </a:rPr>
                        <a:t>57.6% char acc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</a:rPr>
                        <a:t>03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Font CNN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Yes — pixels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U-Net translates font glyph → handwriting style image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4545"/>
                          </a:solidFill>
                        </a:rPr>
                        <a:t>Blank output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</a:rPr>
                        <a:t>04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Bézier Reg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Yes — curves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CNN: reference photo → 6 Bézier curves → rendered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4545"/>
                          </a:solidFill>
                        </a:rPr>
                        <a:t>Mode collapse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</a:rPr>
                        <a:t>05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CharNet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E676"/>
                          </a:solidFill>
                        </a:rPr>
                        <a:t>Yes — curves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</a:rPr>
                        <a:t>Char index → 6 Bézier curves → rendered  (no ref needed)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E676"/>
                          </a:solidFill>
                        </a:rPr>
                        <a:t>Best ✓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01 — GAN</a:t>
            </a:r>
            <a:endParaRPr sz="3400"/>
          </a:p>
        </p:txBody>
      </p:sp>
      <p:sp>
        <p:nvSpPr>
          <p:cNvPr id="180" name="Google Shape;180;p17"/>
          <p:cNvSpPr txBox="1"/>
          <p:nvPr/>
        </p:nvSpPr>
        <p:spPr>
          <a:xfrm>
            <a:off x="548640" y="1143000"/>
            <a:ext cx="1097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Generative Adversarial Network  ·  pixel-level image synthesis</a:t>
            </a:r>
            <a:endParaRPr sz="1900"/>
          </a:p>
        </p:txBody>
      </p:sp>
      <p:sp>
        <p:nvSpPr>
          <p:cNvPr id="181" name="Google Shape;181;p17"/>
          <p:cNvSpPr/>
          <p:nvPr/>
        </p:nvSpPr>
        <p:spPr>
          <a:xfrm>
            <a:off x="457200" y="1783080"/>
            <a:ext cx="3200400" cy="2560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57200" y="1783080"/>
            <a:ext cx="3200400" cy="64008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94360" y="1901952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Style Encoder (CNN)</a:t>
            </a:r>
            <a:endParaRPr sz="1900"/>
          </a:p>
        </p:txBody>
      </p:sp>
      <p:sp>
        <p:nvSpPr>
          <p:cNvPr id="184" name="Google Shape;184;p17"/>
          <p:cNvSpPr txBox="1"/>
          <p:nvPr/>
        </p:nvSpPr>
        <p:spPr>
          <a:xfrm>
            <a:off x="594350" y="2331725"/>
            <a:ext cx="292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Reads a real reference photo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and compresses it into a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style vector</a:t>
            </a:r>
            <a:endParaRPr sz="1800"/>
          </a:p>
        </p:txBody>
      </p:sp>
      <p:sp>
        <p:nvSpPr>
          <p:cNvPr id="185" name="Google Shape;185;p17"/>
          <p:cNvSpPr/>
          <p:nvPr/>
        </p:nvSpPr>
        <p:spPr>
          <a:xfrm>
            <a:off x="3931920" y="1783080"/>
            <a:ext cx="3200400" cy="2560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931920" y="1783080"/>
            <a:ext cx="3200400" cy="64008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4069080" y="1901952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 sz="1900"/>
          </a:p>
        </p:txBody>
      </p:sp>
      <p:sp>
        <p:nvSpPr>
          <p:cNvPr id="188" name="Google Shape;188;p17"/>
          <p:cNvSpPr txBox="1"/>
          <p:nvPr/>
        </p:nvSpPr>
        <p:spPr>
          <a:xfrm>
            <a:off x="4069080" y="2331720"/>
            <a:ext cx="2926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Takes style vector + char label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and produces a full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handwriting image</a:t>
            </a:r>
            <a:endParaRPr sz="1800"/>
          </a:p>
        </p:txBody>
      </p:sp>
      <p:sp>
        <p:nvSpPr>
          <p:cNvPr id="189" name="Google Shape;189;p17"/>
          <p:cNvSpPr/>
          <p:nvPr/>
        </p:nvSpPr>
        <p:spPr>
          <a:xfrm>
            <a:off x="7406640" y="1783080"/>
            <a:ext cx="3200400" cy="2560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406640" y="1783080"/>
            <a:ext cx="320040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7543800" y="1901952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Discriminator</a:t>
            </a:r>
            <a:endParaRPr sz="1900"/>
          </a:p>
        </p:txBody>
      </p:sp>
      <p:sp>
        <p:nvSpPr>
          <p:cNvPr id="192" name="Google Shape;192;p17"/>
          <p:cNvSpPr txBox="1"/>
          <p:nvPr/>
        </p:nvSpPr>
        <p:spPr>
          <a:xfrm>
            <a:off x="7543800" y="2331720"/>
            <a:ext cx="292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AC-GAN: judges real vs fake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and also predicts the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character label</a:t>
            </a:r>
            <a:endParaRPr sz="1800"/>
          </a:p>
        </p:txBody>
      </p:sp>
      <p:sp>
        <p:nvSpPr>
          <p:cNvPr id="193" name="Google Shape;193;p17"/>
          <p:cNvSpPr txBox="1"/>
          <p:nvPr/>
        </p:nvSpPr>
        <p:spPr>
          <a:xfrm>
            <a:off x="3657600" y="2606040"/>
            <a:ext cx="32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7132320" y="26060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457200" y="4663440"/>
            <a:ext cx="11247120" cy="19202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40080" y="4754880"/>
            <a:ext cx="274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900"/>
          </a:p>
        </p:txBody>
      </p:sp>
      <p:sp>
        <p:nvSpPr>
          <p:cNvPr id="197" name="Google Shape;197;p17"/>
          <p:cNvSpPr txBox="1"/>
          <p:nvPr/>
        </p:nvSpPr>
        <p:spPr>
          <a:xfrm>
            <a:off x="640080" y="5120640"/>
            <a:ext cx="1078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Mode collapse: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the generator ignored the character label and always produced the same blurry blob regardless of input. Root cause — reference image was the same (dataset[0]) for all 62 characters; fixed in generate() but image quality remained poor.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02 — 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MultiTask CNN</a:t>
            </a:r>
            <a:endParaRPr sz="3400"/>
          </a:p>
        </p:txBody>
      </p:sp>
      <p:sp>
        <p:nvSpPr>
          <p:cNvPr id="205" name="Google Shape;205;p18"/>
          <p:cNvSpPr txBox="1"/>
          <p:nvPr/>
        </p:nvSpPr>
        <p:spPr>
          <a:xfrm>
            <a:off x="548640" y="114300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Classification model — not a generator</a:t>
            </a:r>
            <a:endParaRPr sz="1800"/>
          </a:p>
        </p:txBody>
      </p:sp>
      <p:sp>
        <p:nvSpPr>
          <p:cNvPr id="206" name="Google Shape;206;p18"/>
          <p:cNvSpPr/>
          <p:nvPr/>
        </p:nvSpPr>
        <p:spPr>
          <a:xfrm>
            <a:off x="457200" y="1691640"/>
            <a:ext cx="5029200" cy="4846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40080" y="1810512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sz="1800"/>
          </a:p>
        </p:txBody>
      </p:sp>
      <p:sp>
        <p:nvSpPr>
          <p:cNvPr id="208" name="Google Shape;208;p18"/>
          <p:cNvSpPr txBox="1"/>
          <p:nvPr/>
        </p:nvSpPr>
        <p:spPr>
          <a:xfrm>
            <a:off x="640080" y="2240280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Takes a real handwriting image as input</a:t>
            </a:r>
            <a:endParaRPr sz="1750"/>
          </a:p>
        </p:txBody>
      </p:sp>
      <p:sp>
        <p:nvSpPr>
          <p:cNvPr id="209" name="Google Shape;209;p18"/>
          <p:cNvSpPr txBox="1"/>
          <p:nvPr/>
        </p:nvSpPr>
        <p:spPr>
          <a:xfrm>
            <a:off x="640080" y="2679192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Two classification heads:</a:t>
            </a:r>
            <a:endParaRPr sz="1750"/>
          </a:p>
        </p:txBody>
      </p:sp>
      <p:sp>
        <p:nvSpPr>
          <p:cNvPr id="210" name="Google Shape;210;p18"/>
          <p:cNvSpPr txBox="1"/>
          <p:nvPr/>
        </p:nvSpPr>
        <p:spPr>
          <a:xfrm>
            <a:off x="640080" y="3118104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  – Character head: which of 62 characters?</a:t>
            </a:r>
            <a:endParaRPr sz="1750"/>
          </a:p>
        </p:txBody>
      </p:sp>
      <p:sp>
        <p:nvSpPr>
          <p:cNvPr id="211" name="Google Shape;211;p18"/>
          <p:cNvSpPr txBox="1"/>
          <p:nvPr/>
        </p:nvSpPr>
        <p:spPr>
          <a:xfrm>
            <a:off x="640080" y="3557016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  – Writer head: which of 6 writers?</a:t>
            </a:r>
            <a:endParaRPr sz="1750"/>
          </a:p>
        </p:txBody>
      </p:sp>
      <p:sp>
        <p:nvSpPr>
          <p:cNvPr id="212" name="Google Shape;212;p18"/>
          <p:cNvSpPr txBox="1"/>
          <p:nvPr/>
        </p:nvSpPr>
        <p:spPr>
          <a:xfrm>
            <a:off x="640080" y="3995928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40080" y="4434840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This is a classifier, not a generator.</a:t>
            </a:r>
            <a:endParaRPr sz="1750"/>
          </a:p>
        </p:txBody>
      </p:sp>
      <p:sp>
        <p:nvSpPr>
          <p:cNvPr id="214" name="Google Shape;214;p18"/>
          <p:cNvSpPr txBox="1"/>
          <p:nvPr/>
        </p:nvSpPr>
        <p:spPr>
          <a:xfrm>
            <a:off x="640080" y="4873752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Output = your own dataset photos with labels.</a:t>
            </a:r>
            <a:endParaRPr sz="1750"/>
          </a:p>
        </p:txBody>
      </p:sp>
      <p:sp>
        <p:nvSpPr>
          <p:cNvPr id="215" name="Google Shape;215;p18"/>
          <p:cNvSpPr txBox="1"/>
          <p:nvPr/>
        </p:nvSpPr>
        <p:spPr>
          <a:xfrm>
            <a:off x="640080" y="5312664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Useful for style-feature extraction and</a:t>
            </a:r>
            <a:endParaRPr sz="1750"/>
          </a:p>
        </p:txBody>
      </p:sp>
      <p:sp>
        <p:nvSpPr>
          <p:cNvPr id="216" name="Google Shape;216;p18"/>
          <p:cNvSpPr txBox="1"/>
          <p:nvPr/>
        </p:nvSpPr>
        <p:spPr>
          <a:xfrm>
            <a:off x="640080" y="5751576"/>
            <a:ext cx="4663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verifying the dataset is well-structured.</a:t>
            </a:r>
            <a:endParaRPr sz="1750"/>
          </a:p>
        </p:txBody>
      </p:sp>
      <p:sp>
        <p:nvSpPr>
          <p:cNvPr id="217" name="Google Shape;217;p18"/>
          <p:cNvSpPr/>
          <p:nvPr/>
        </p:nvSpPr>
        <p:spPr>
          <a:xfrm>
            <a:off x="5852160" y="1691640"/>
            <a:ext cx="5852160" cy="4846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6035040" y="1810512"/>
            <a:ext cx="53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800"/>
          </a:p>
        </p:txBody>
      </p:sp>
      <p:sp>
        <p:nvSpPr>
          <p:cNvPr id="219" name="Google Shape;219;p18"/>
          <p:cNvSpPr txBox="1"/>
          <p:nvPr/>
        </p:nvSpPr>
        <p:spPr>
          <a:xfrm>
            <a:off x="6035040" y="2331720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Char Accuracy (Top-1)</a:t>
            </a:r>
            <a:endParaRPr sz="1700"/>
          </a:p>
        </p:txBody>
      </p:sp>
      <p:sp>
        <p:nvSpPr>
          <p:cNvPr id="220" name="Google Shape;220;p18"/>
          <p:cNvSpPr txBox="1"/>
          <p:nvPr/>
        </p:nvSpPr>
        <p:spPr>
          <a:xfrm>
            <a:off x="6035040" y="2651760"/>
            <a:ext cx="228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57.6 %</a:t>
            </a:r>
            <a:endParaRPr sz="2100"/>
          </a:p>
        </p:txBody>
      </p:sp>
      <p:sp>
        <p:nvSpPr>
          <p:cNvPr id="221" name="Google Shape;221;p18"/>
          <p:cNvSpPr txBox="1"/>
          <p:nvPr/>
        </p:nvSpPr>
        <p:spPr>
          <a:xfrm>
            <a:off x="8321040" y="2679192"/>
            <a:ext cx="320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mediocre</a:t>
            </a:r>
            <a:endParaRPr sz="1900"/>
          </a:p>
        </p:txBody>
      </p:sp>
      <p:sp>
        <p:nvSpPr>
          <p:cNvPr id="222" name="Google Shape;222;p18"/>
          <p:cNvSpPr txBox="1"/>
          <p:nvPr/>
        </p:nvSpPr>
        <p:spPr>
          <a:xfrm>
            <a:off x="6035040" y="3337560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Char Accuracy (Top-5)</a:t>
            </a:r>
            <a:endParaRPr sz="1700"/>
          </a:p>
        </p:txBody>
      </p:sp>
      <p:sp>
        <p:nvSpPr>
          <p:cNvPr id="223" name="Google Shape;223;p18"/>
          <p:cNvSpPr txBox="1"/>
          <p:nvPr/>
        </p:nvSpPr>
        <p:spPr>
          <a:xfrm>
            <a:off x="6035040" y="3657600"/>
            <a:ext cx="228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89.9 %</a:t>
            </a:r>
            <a:endParaRPr sz="2100"/>
          </a:p>
        </p:txBody>
      </p:sp>
      <p:sp>
        <p:nvSpPr>
          <p:cNvPr id="224" name="Google Shape;224;p18"/>
          <p:cNvSpPr txBox="1"/>
          <p:nvPr/>
        </p:nvSpPr>
        <p:spPr>
          <a:xfrm>
            <a:off x="8321040" y="3685032"/>
            <a:ext cx="320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b="0" i="1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— right answer in top 5</a:t>
            </a:r>
            <a:endParaRPr sz="1800"/>
          </a:p>
        </p:txBody>
      </p:sp>
      <p:sp>
        <p:nvSpPr>
          <p:cNvPr id="225" name="Google Shape;225;p18"/>
          <p:cNvSpPr txBox="1"/>
          <p:nvPr/>
        </p:nvSpPr>
        <p:spPr>
          <a:xfrm>
            <a:off x="6035040" y="4343400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Writer Accuracy</a:t>
            </a:r>
            <a:endParaRPr sz="1700"/>
          </a:p>
        </p:txBody>
      </p:sp>
      <p:sp>
        <p:nvSpPr>
          <p:cNvPr id="226" name="Google Shape;226;p18"/>
          <p:cNvSpPr txBox="1"/>
          <p:nvPr/>
        </p:nvSpPr>
        <p:spPr>
          <a:xfrm>
            <a:off x="6035040" y="4663440"/>
            <a:ext cx="228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31.9 %</a:t>
            </a:r>
            <a:endParaRPr sz="2100"/>
          </a:p>
        </p:txBody>
      </p:sp>
      <p:sp>
        <p:nvSpPr>
          <p:cNvPr id="227" name="Google Shape;227;p18"/>
          <p:cNvSpPr txBox="1"/>
          <p:nvPr/>
        </p:nvSpPr>
        <p:spPr>
          <a:xfrm>
            <a:off x="8321040" y="4690872"/>
            <a:ext cx="320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poor </a:t>
            </a:r>
            <a:r>
              <a:rPr b="0" i="1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(random chance = 16.7 %)</a:t>
            </a:r>
            <a:endParaRPr sz="1800"/>
          </a:p>
        </p:txBody>
      </p:sp>
      <p:sp>
        <p:nvSpPr>
          <p:cNvPr id="228" name="Google Shape;228;p18"/>
          <p:cNvSpPr txBox="1"/>
          <p:nvPr/>
        </p:nvSpPr>
        <p:spPr>
          <a:xfrm>
            <a:off x="6126540" y="5550895"/>
            <a:ext cx="53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⚠  Digits (0-8) all 0% F1 — model didn't learn digit classes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03 — Font to Handwriting CNN</a:t>
            </a:r>
            <a:endParaRPr sz="3400"/>
          </a:p>
        </p:txBody>
      </p:sp>
      <p:sp>
        <p:nvSpPr>
          <p:cNvPr id="236" name="Google Shape;236;p19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U-Net translates a font-rendered glyph into a writer's style</a:t>
            </a:r>
            <a:endParaRPr sz="2000"/>
          </a:p>
        </p:txBody>
      </p:sp>
      <p:sp>
        <p:nvSpPr>
          <p:cNvPr id="237" name="Google Shape;237;p19"/>
          <p:cNvSpPr/>
          <p:nvPr/>
        </p:nvSpPr>
        <p:spPr>
          <a:xfrm>
            <a:off x="365760" y="1783080"/>
            <a:ext cx="2743200" cy="2468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65760" y="1783080"/>
            <a:ext cx="2743200" cy="64008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475488" y="1892807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Font Renderer</a:t>
            </a:r>
            <a:endParaRPr sz="2000"/>
          </a:p>
        </p:txBody>
      </p:sp>
      <p:sp>
        <p:nvSpPr>
          <p:cNvPr id="240" name="Google Shape;240;p19"/>
          <p:cNvSpPr txBox="1"/>
          <p:nvPr/>
        </p:nvSpPr>
        <p:spPr>
          <a:xfrm>
            <a:off x="475488" y="2304288"/>
            <a:ext cx="256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PIL renders the target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character in a clean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computer font</a:t>
            </a:r>
            <a:endParaRPr sz="1800"/>
          </a:p>
        </p:txBody>
      </p:sp>
      <p:sp>
        <p:nvSpPr>
          <p:cNvPr id="241" name="Google Shape;241;p19"/>
          <p:cNvSpPr/>
          <p:nvPr/>
        </p:nvSpPr>
        <p:spPr>
          <a:xfrm>
            <a:off x="3310128" y="1783080"/>
            <a:ext cx="2743200" cy="2468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310128" y="1783080"/>
            <a:ext cx="2743200" cy="64008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419856" y="1892807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U-Net Encoder</a:t>
            </a:r>
            <a:endParaRPr sz="2000"/>
          </a:p>
        </p:txBody>
      </p:sp>
      <p:sp>
        <p:nvSpPr>
          <p:cNvPr id="244" name="Google Shape;244;p19"/>
          <p:cNvSpPr txBox="1"/>
          <p:nvPr/>
        </p:nvSpPr>
        <p:spPr>
          <a:xfrm>
            <a:off x="3419856" y="2304288"/>
            <a:ext cx="256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Downsampled</a:t>
            </a: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the font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glyph extracting spatial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800"/>
          </a:p>
        </p:txBody>
      </p:sp>
      <p:sp>
        <p:nvSpPr>
          <p:cNvPr id="245" name="Google Shape;245;p19"/>
          <p:cNvSpPr/>
          <p:nvPr/>
        </p:nvSpPr>
        <p:spPr>
          <a:xfrm>
            <a:off x="6254496" y="1783080"/>
            <a:ext cx="2743200" cy="2468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254496" y="1783080"/>
            <a:ext cx="274320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6364224" y="1892807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Style Injection</a:t>
            </a:r>
            <a:endParaRPr sz="2000"/>
          </a:p>
        </p:txBody>
      </p:sp>
      <p:sp>
        <p:nvSpPr>
          <p:cNvPr id="248" name="Google Shape;248;p19"/>
          <p:cNvSpPr txBox="1"/>
          <p:nvPr/>
        </p:nvSpPr>
        <p:spPr>
          <a:xfrm>
            <a:off x="6364224" y="2304288"/>
            <a:ext cx="2560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Writer style vector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injected at the bottleneck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via FiLM layers</a:t>
            </a:r>
            <a:endParaRPr sz="1800"/>
          </a:p>
        </p:txBody>
      </p:sp>
      <p:sp>
        <p:nvSpPr>
          <p:cNvPr id="249" name="Google Shape;249;p19"/>
          <p:cNvSpPr/>
          <p:nvPr/>
        </p:nvSpPr>
        <p:spPr>
          <a:xfrm>
            <a:off x="9198864" y="1783080"/>
            <a:ext cx="2743200" cy="2468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9198864" y="1783080"/>
            <a:ext cx="2743200" cy="64008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9308592" y="1892807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U-Net Decoder</a:t>
            </a:r>
            <a:endParaRPr sz="2000"/>
          </a:p>
        </p:txBody>
      </p:sp>
      <p:sp>
        <p:nvSpPr>
          <p:cNvPr id="252" name="Google Shape;252;p19"/>
          <p:cNvSpPr txBox="1"/>
          <p:nvPr/>
        </p:nvSpPr>
        <p:spPr>
          <a:xfrm>
            <a:off x="9308592" y="2304288"/>
            <a:ext cx="256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Up Samples</a:t>
            </a: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back to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full resolution with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skip connections</a:t>
            </a:r>
            <a:endParaRPr sz="1800"/>
          </a:p>
        </p:txBody>
      </p:sp>
      <p:sp>
        <p:nvSpPr>
          <p:cNvPr id="253" name="Google Shape;253;p19"/>
          <p:cNvSpPr txBox="1"/>
          <p:nvPr/>
        </p:nvSpPr>
        <p:spPr>
          <a:xfrm>
            <a:off x="3108960" y="26060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053328" y="26060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8997696" y="26060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457200" y="4434840"/>
            <a:ext cx="11247120" cy="21488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640080" y="4507130"/>
            <a:ext cx="182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2000"/>
          </a:p>
        </p:txBody>
      </p:sp>
      <p:sp>
        <p:nvSpPr>
          <p:cNvPr id="258" name="Google Shape;258;p19"/>
          <p:cNvSpPr txBox="1"/>
          <p:nvPr/>
        </p:nvSpPr>
        <p:spPr>
          <a:xfrm>
            <a:off x="640080" y="4846320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SSIM: 0.906</a:t>
            </a:r>
            <a:endParaRPr sz="1800"/>
          </a:p>
        </p:txBody>
      </p:sp>
      <p:sp>
        <p:nvSpPr>
          <p:cNvPr id="259" name="Google Shape;259;p19"/>
          <p:cNvSpPr txBox="1"/>
          <p:nvPr/>
        </p:nvSpPr>
        <p:spPr>
          <a:xfrm>
            <a:off x="640080" y="5257800"/>
            <a:ext cx="3566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Structurally matches</a:t>
            </a:r>
            <a:b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reference (looks great</a:t>
            </a:r>
            <a:b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on paper)</a:t>
            </a:r>
            <a:endParaRPr sz="1700"/>
          </a:p>
        </p:txBody>
      </p:sp>
      <p:sp>
        <p:nvSpPr>
          <p:cNvPr id="260" name="Google Shape;260;p19"/>
          <p:cNvSpPr txBox="1"/>
          <p:nvPr/>
        </p:nvSpPr>
        <p:spPr>
          <a:xfrm>
            <a:off x="4434840" y="4846320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Ink coverage: 0.14%</a:t>
            </a:r>
            <a:endParaRPr sz="1800"/>
          </a:p>
        </p:txBody>
      </p:sp>
      <p:sp>
        <p:nvSpPr>
          <p:cNvPr id="261" name="Google Shape;261;p19"/>
          <p:cNvSpPr txBox="1"/>
          <p:nvPr/>
        </p:nvSpPr>
        <p:spPr>
          <a:xfrm>
            <a:off x="4434840" y="5257800"/>
            <a:ext cx="3566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Nearly blank output —</a:t>
            </a:r>
            <a:b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model generates almost</a:t>
            </a:r>
            <a:b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no visible ink</a:t>
            </a:r>
            <a:endParaRPr sz="1700"/>
          </a:p>
        </p:txBody>
      </p:sp>
      <p:sp>
        <p:nvSpPr>
          <p:cNvPr id="262" name="Google Shape;262;p19"/>
          <p:cNvSpPr txBox="1"/>
          <p:nvPr/>
        </p:nvSpPr>
        <p:spPr>
          <a:xfrm>
            <a:off x="8229600" y="4846320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Distinctiveness: 0.0</a:t>
            </a:r>
            <a:endParaRPr sz="1800"/>
          </a:p>
        </p:txBody>
      </p:sp>
      <p:sp>
        <p:nvSpPr>
          <p:cNvPr id="263" name="Google Shape;263;p19"/>
          <p:cNvSpPr txBox="1"/>
          <p:nvPr/>
        </p:nvSpPr>
        <p:spPr>
          <a:xfrm>
            <a:off x="8229600" y="5257800"/>
            <a:ext cx="3566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62 outputs identical —</a:t>
            </a:r>
            <a:b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complete failure</a:t>
            </a:r>
            <a:b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to differentiate characters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04 — Bézier Curve Regression</a:t>
            </a:r>
            <a:endParaRPr sz="3400"/>
          </a:p>
        </p:txBody>
      </p:sp>
      <p:sp>
        <p:nvSpPr>
          <p:cNvPr id="271" name="Google Shape;271;p20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CNN predicts stroke paths instead of pixel values</a:t>
            </a:r>
            <a:endParaRPr sz="2000"/>
          </a:p>
        </p:txBody>
      </p:sp>
      <p:sp>
        <p:nvSpPr>
          <p:cNvPr id="272" name="Google Shape;272;p20"/>
          <p:cNvSpPr/>
          <p:nvPr/>
        </p:nvSpPr>
        <p:spPr>
          <a:xfrm>
            <a:off x="457200" y="1691640"/>
            <a:ext cx="5577840" cy="4846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40080" y="1810512"/>
            <a:ext cx="50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2000"/>
          </a:p>
        </p:txBody>
      </p:sp>
      <p:sp>
        <p:nvSpPr>
          <p:cNvPr id="274" name="Google Shape;274;p20"/>
          <p:cNvSpPr txBox="1"/>
          <p:nvPr/>
        </p:nvSpPr>
        <p:spPr>
          <a:xfrm>
            <a:off x="640075" y="2240273"/>
            <a:ext cx="51207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1.  Reference photo of a character is fed in</a:t>
            </a:r>
            <a:endParaRPr sz="1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2.  CNN backbone (ResNet-style) extracts features</a:t>
            </a:r>
            <a:endParaRPr sz="1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3.  Regression head outputs 6 × 8 = 48 values</a:t>
            </a:r>
            <a:endParaRPr sz="1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  (6 cubic Bézier curves × 4 control points × 2 coords)</a:t>
            </a:r>
            <a:endParaRPr sz="1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4.  Curves are rendered onto a blank canvas</a:t>
            </a:r>
            <a:endParaRPr sz="1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5.  Ground truth: real images → skeletonise → fit curves</a:t>
            </a:r>
            <a:endParaRPr sz="1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6.  Loss = MSE between predicted and real curves</a:t>
            </a:r>
            <a:endParaRPr sz="1900"/>
          </a:p>
        </p:txBody>
      </p:sp>
      <p:sp>
        <p:nvSpPr>
          <p:cNvPr id="275" name="Google Shape;275;p20"/>
          <p:cNvSpPr/>
          <p:nvPr/>
        </p:nvSpPr>
        <p:spPr>
          <a:xfrm>
            <a:off x="6400800" y="1691640"/>
            <a:ext cx="5303520" cy="4846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6583680" y="1810512"/>
            <a:ext cx="47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2000"/>
          </a:p>
        </p:txBody>
      </p:sp>
      <p:sp>
        <p:nvSpPr>
          <p:cNvPr id="277" name="Google Shape;277;p20"/>
          <p:cNvSpPr txBox="1"/>
          <p:nvPr/>
        </p:nvSpPr>
        <p:spPr>
          <a:xfrm>
            <a:off x="6583680" y="2331720"/>
            <a:ext cx="475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SSIM</a:t>
            </a:r>
            <a:endParaRPr sz="1500"/>
          </a:p>
        </p:txBody>
      </p:sp>
      <p:sp>
        <p:nvSpPr>
          <p:cNvPr id="278" name="Google Shape;278;p20"/>
          <p:cNvSpPr txBox="1"/>
          <p:nvPr/>
        </p:nvSpPr>
        <p:spPr>
          <a:xfrm>
            <a:off x="6583680" y="262432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0.720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8412485" y="2651760"/>
            <a:ext cx="292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reasonable structural similarity</a:t>
            </a:r>
            <a:endParaRPr sz="1700"/>
          </a:p>
        </p:txBody>
      </p:sp>
      <p:sp>
        <p:nvSpPr>
          <p:cNvPr id="280" name="Google Shape;280;p20"/>
          <p:cNvSpPr txBox="1"/>
          <p:nvPr/>
        </p:nvSpPr>
        <p:spPr>
          <a:xfrm>
            <a:off x="6583680" y="3337560"/>
            <a:ext cx="475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Ink Coverage</a:t>
            </a:r>
            <a:endParaRPr sz="1500"/>
          </a:p>
        </p:txBody>
      </p:sp>
      <p:sp>
        <p:nvSpPr>
          <p:cNvPr id="281" name="Google Shape;281;p20"/>
          <p:cNvSpPr txBox="1"/>
          <p:nvPr/>
        </p:nvSpPr>
        <p:spPr>
          <a:xfrm>
            <a:off x="6583680" y="36301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0.55%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8412485" y="3657600"/>
            <a:ext cx="292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very low — sparse strokes</a:t>
            </a:r>
            <a:endParaRPr sz="1700"/>
          </a:p>
        </p:txBody>
      </p:sp>
      <p:sp>
        <p:nvSpPr>
          <p:cNvPr id="283" name="Google Shape;283;p20"/>
          <p:cNvSpPr txBox="1"/>
          <p:nvPr/>
        </p:nvSpPr>
        <p:spPr>
          <a:xfrm>
            <a:off x="6583680" y="4343400"/>
            <a:ext cx="475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Distinctiveness</a:t>
            </a:r>
            <a:endParaRPr sz="1500"/>
          </a:p>
        </p:txBody>
      </p:sp>
      <p:sp>
        <p:nvSpPr>
          <p:cNvPr id="284" name="Google Shape;284;p20"/>
          <p:cNvSpPr txBox="1"/>
          <p:nvPr/>
        </p:nvSpPr>
        <p:spPr>
          <a:xfrm>
            <a:off x="6583680" y="46360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0.004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8412485" y="4663440"/>
            <a:ext cx="292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near-zero — mode collapse</a:t>
            </a:r>
            <a:endParaRPr sz="1700"/>
          </a:p>
        </p:txBody>
      </p:sp>
      <p:sp>
        <p:nvSpPr>
          <p:cNvPr id="286" name="Google Shape;286;p20"/>
          <p:cNvSpPr txBox="1"/>
          <p:nvPr/>
        </p:nvSpPr>
        <p:spPr>
          <a:xfrm>
            <a:off x="6583705" y="5458500"/>
            <a:ext cx="493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Issue: model always predicts the same average curve</a:t>
            </a:r>
            <a:br>
              <a:rPr b="0" i="1" lang="en-US" sz="165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5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regardless of which character was requested.</a:t>
            </a:r>
            <a:endParaRPr sz="16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05 — CharNet  (Best Model)</a:t>
            </a:r>
            <a:endParaRPr sz="3400"/>
          </a:p>
        </p:txBody>
      </p:sp>
      <p:sp>
        <p:nvSpPr>
          <p:cNvPr id="294" name="Google Shape;294;p21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Simplest approach — and the one that actually works</a:t>
            </a:r>
            <a:endParaRPr sz="2000"/>
          </a:p>
        </p:txBody>
      </p:sp>
      <p:sp>
        <p:nvSpPr>
          <p:cNvPr id="295" name="Google Shape;295;p21"/>
          <p:cNvSpPr/>
          <p:nvPr/>
        </p:nvSpPr>
        <p:spPr>
          <a:xfrm>
            <a:off x="7772400" y="1097280"/>
            <a:ext cx="3931920" cy="347472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7838925" y="1097275"/>
            <a:ext cx="380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reference image needed</a:t>
            </a:r>
            <a:endParaRPr sz="1500"/>
          </a:p>
        </p:txBody>
      </p:sp>
      <p:sp>
        <p:nvSpPr>
          <p:cNvPr id="297" name="Google Shape;297;p21"/>
          <p:cNvSpPr/>
          <p:nvPr/>
        </p:nvSpPr>
        <p:spPr>
          <a:xfrm>
            <a:off x="365750" y="1783075"/>
            <a:ext cx="2743200" cy="2514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65760" y="1783080"/>
            <a:ext cx="2743200" cy="7315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5488" y="1901952"/>
            <a:ext cx="256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Char Index</a:t>
            </a:r>
            <a:br>
              <a:rPr b="1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(0 – 61)</a:t>
            </a:r>
            <a:endParaRPr sz="2000"/>
          </a:p>
        </p:txBody>
      </p:sp>
      <p:sp>
        <p:nvSpPr>
          <p:cNvPr id="300" name="Google Shape;300;p21"/>
          <p:cNvSpPr txBox="1"/>
          <p:nvPr/>
        </p:nvSpPr>
        <p:spPr>
          <a:xfrm>
            <a:off x="516688" y="2749543"/>
            <a:ext cx="2560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Input: a single integer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identifying which character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to generate</a:t>
            </a:r>
            <a:endParaRPr sz="1800"/>
          </a:p>
        </p:txBody>
      </p:sp>
      <p:sp>
        <p:nvSpPr>
          <p:cNvPr id="301" name="Google Shape;301;p21"/>
          <p:cNvSpPr/>
          <p:nvPr/>
        </p:nvSpPr>
        <p:spPr>
          <a:xfrm>
            <a:off x="3310123" y="1783075"/>
            <a:ext cx="2743200" cy="2514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310128" y="1783080"/>
            <a:ext cx="2743200" cy="73152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3419856" y="1901952"/>
            <a:ext cx="256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br>
              <a:rPr b="1" i="0" lang="en-US" sz="20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2000"/>
          </a:p>
        </p:txBody>
      </p:sp>
      <p:sp>
        <p:nvSpPr>
          <p:cNvPr id="304" name="Google Shape;304;p21"/>
          <p:cNvSpPr txBox="1"/>
          <p:nvPr/>
        </p:nvSpPr>
        <p:spPr>
          <a:xfrm>
            <a:off x="3461056" y="2749543"/>
            <a:ext cx="256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Maps char index to a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learned 64-dim vector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(like word embeddings)</a:t>
            </a:r>
            <a:endParaRPr sz="1800"/>
          </a:p>
        </p:txBody>
      </p:sp>
      <p:sp>
        <p:nvSpPr>
          <p:cNvPr id="305" name="Google Shape;305;p21"/>
          <p:cNvSpPr/>
          <p:nvPr/>
        </p:nvSpPr>
        <p:spPr>
          <a:xfrm>
            <a:off x="6254497" y="1783075"/>
            <a:ext cx="2743200" cy="2514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254496" y="1783080"/>
            <a:ext cx="2743200" cy="73152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364224" y="1901952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MLP Head</a:t>
            </a:r>
            <a:endParaRPr sz="2000"/>
          </a:p>
        </p:txBody>
      </p:sp>
      <p:sp>
        <p:nvSpPr>
          <p:cNvPr id="308" name="Google Shape;308;p21"/>
          <p:cNvSpPr txBox="1"/>
          <p:nvPr/>
        </p:nvSpPr>
        <p:spPr>
          <a:xfrm>
            <a:off x="6405424" y="2749543"/>
            <a:ext cx="256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 fully-connected layers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predict 48 floats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(6 curves × 8 coords)</a:t>
            </a:r>
            <a:endParaRPr sz="1800"/>
          </a:p>
        </p:txBody>
      </p:sp>
      <p:sp>
        <p:nvSpPr>
          <p:cNvPr id="309" name="Google Shape;309;p21"/>
          <p:cNvSpPr/>
          <p:nvPr/>
        </p:nvSpPr>
        <p:spPr>
          <a:xfrm>
            <a:off x="9198870" y="1783075"/>
            <a:ext cx="2743200" cy="2514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9198864" y="1783080"/>
            <a:ext cx="27432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9308592" y="1901952"/>
            <a:ext cx="256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Bézier</a:t>
            </a:r>
            <a:br>
              <a:rPr b="1" i="0" lang="en-US" sz="2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Renderer</a:t>
            </a:r>
            <a:endParaRPr sz="2000"/>
          </a:p>
        </p:txBody>
      </p:sp>
      <p:sp>
        <p:nvSpPr>
          <p:cNvPr id="312" name="Google Shape;312;p21"/>
          <p:cNvSpPr txBox="1"/>
          <p:nvPr/>
        </p:nvSpPr>
        <p:spPr>
          <a:xfrm>
            <a:off x="9349792" y="2749543"/>
            <a:ext cx="2560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Control points drawn onto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 128×128 canvas</a:t>
            </a:r>
            <a:b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using cubic splines</a:t>
            </a:r>
            <a:endParaRPr sz="1800"/>
          </a:p>
        </p:txBody>
      </p:sp>
      <p:sp>
        <p:nvSpPr>
          <p:cNvPr id="313" name="Google Shape;313;p21"/>
          <p:cNvSpPr txBox="1"/>
          <p:nvPr/>
        </p:nvSpPr>
        <p:spPr>
          <a:xfrm>
            <a:off x="3108960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6053328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8997696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16700" y="4465550"/>
            <a:ext cx="11247000" cy="22098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640155" y="4537855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Why It Works Better</a:t>
            </a:r>
            <a:endParaRPr sz="1800"/>
          </a:p>
        </p:txBody>
      </p:sp>
      <p:sp>
        <p:nvSpPr>
          <p:cNvPr id="318" name="Google Shape;318;p21"/>
          <p:cNvSpPr txBox="1"/>
          <p:nvPr/>
        </p:nvSpPr>
        <p:spPr>
          <a:xfrm>
            <a:off x="640155" y="4907160"/>
            <a:ext cx="10789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No style ambiguity: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each character index maps to one and only one output — no confusion from mismatched references.  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Simpler task: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the model only needs to learn 62 prototypical stroke shapes, not per-writer variation.  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Bézier representation: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predicting curves (not pixels) is a lower-dimensional, smoother regression target.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CharNet — Evaluation Results</a:t>
            </a:r>
            <a:endParaRPr sz="3400"/>
          </a:p>
        </p:txBody>
      </p:sp>
      <p:sp>
        <p:nvSpPr>
          <p:cNvPr id="326" name="Google Shape;326;p22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Approach 05  ·  Trained for 105 epochs on T4 GPU</a:t>
            </a:r>
            <a:endParaRPr sz="2000"/>
          </a:p>
        </p:txBody>
      </p:sp>
      <p:sp>
        <p:nvSpPr>
          <p:cNvPr id="327" name="Google Shape;327;p22"/>
          <p:cNvSpPr/>
          <p:nvPr/>
        </p:nvSpPr>
        <p:spPr>
          <a:xfrm>
            <a:off x="365750" y="1646150"/>
            <a:ext cx="2743200" cy="11427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457188" y="1668697"/>
            <a:ext cx="2560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Overall MSE</a:t>
            </a:r>
            <a:endParaRPr b="1" sz="1550"/>
          </a:p>
        </p:txBody>
      </p:sp>
      <p:sp>
        <p:nvSpPr>
          <p:cNvPr id="329" name="Google Shape;329;p22"/>
          <p:cNvSpPr txBox="1"/>
          <p:nvPr/>
        </p:nvSpPr>
        <p:spPr>
          <a:xfrm>
            <a:off x="457188" y="1940010"/>
            <a:ext cx="256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0.0042</a:t>
            </a:r>
            <a:endParaRPr sz="1500"/>
          </a:p>
        </p:txBody>
      </p:sp>
      <p:sp>
        <p:nvSpPr>
          <p:cNvPr id="330" name="Google Shape;330;p22"/>
          <p:cNvSpPr txBox="1"/>
          <p:nvPr/>
        </p:nvSpPr>
        <p:spPr>
          <a:xfrm>
            <a:off x="457201" y="2393372"/>
            <a:ext cx="256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target &lt; 0.005  ✓</a:t>
            </a:r>
            <a:endParaRPr sz="1350"/>
          </a:p>
        </p:txBody>
      </p:sp>
      <p:sp>
        <p:nvSpPr>
          <p:cNvPr id="331" name="Google Shape;331;p22"/>
          <p:cNvSpPr/>
          <p:nvPr/>
        </p:nvSpPr>
        <p:spPr>
          <a:xfrm>
            <a:off x="3310117" y="1646150"/>
            <a:ext cx="2743200" cy="11427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3401556" y="1668697"/>
            <a:ext cx="2560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Endpoint Deviation</a:t>
            </a:r>
            <a:endParaRPr b="1" sz="1550"/>
          </a:p>
        </p:txBody>
      </p:sp>
      <p:sp>
        <p:nvSpPr>
          <p:cNvPr id="333" name="Google Shape;333;p22"/>
          <p:cNvSpPr txBox="1"/>
          <p:nvPr/>
        </p:nvSpPr>
        <p:spPr>
          <a:xfrm>
            <a:off x="3401556" y="1940010"/>
            <a:ext cx="256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0.074</a:t>
            </a:r>
            <a:endParaRPr sz="1500"/>
          </a:p>
        </p:txBody>
      </p:sp>
      <p:sp>
        <p:nvSpPr>
          <p:cNvPr id="334" name="Google Shape;334;p22"/>
          <p:cNvSpPr txBox="1"/>
          <p:nvPr/>
        </p:nvSpPr>
        <p:spPr>
          <a:xfrm>
            <a:off x="3401568" y="2393372"/>
            <a:ext cx="256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slightly above 0.05 target</a:t>
            </a:r>
            <a:endParaRPr sz="1350"/>
          </a:p>
        </p:txBody>
      </p:sp>
      <p:sp>
        <p:nvSpPr>
          <p:cNvPr id="335" name="Google Shape;335;p22"/>
          <p:cNvSpPr/>
          <p:nvPr/>
        </p:nvSpPr>
        <p:spPr>
          <a:xfrm>
            <a:off x="6254485" y="1646150"/>
            <a:ext cx="2743200" cy="11427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6345924" y="1668697"/>
            <a:ext cx="2560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SSIM</a:t>
            </a:r>
            <a:endParaRPr b="1" sz="1550"/>
          </a:p>
        </p:txBody>
      </p:sp>
      <p:sp>
        <p:nvSpPr>
          <p:cNvPr id="337" name="Google Shape;337;p22"/>
          <p:cNvSpPr txBox="1"/>
          <p:nvPr/>
        </p:nvSpPr>
        <p:spPr>
          <a:xfrm>
            <a:off x="6345924" y="1940010"/>
            <a:ext cx="256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0.851</a:t>
            </a:r>
            <a:endParaRPr sz="1500"/>
          </a:p>
        </p:txBody>
      </p:sp>
      <p:sp>
        <p:nvSpPr>
          <p:cNvPr id="338" name="Google Shape;338;p22"/>
          <p:cNvSpPr txBox="1"/>
          <p:nvPr/>
        </p:nvSpPr>
        <p:spPr>
          <a:xfrm>
            <a:off x="6345936" y="2393372"/>
            <a:ext cx="256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strong structural similarity</a:t>
            </a:r>
            <a:endParaRPr sz="1350"/>
          </a:p>
        </p:txBody>
      </p:sp>
      <p:sp>
        <p:nvSpPr>
          <p:cNvPr id="339" name="Google Shape;339;p22"/>
          <p:cNvSpPr/>
          <p:nvPr/>
        </p:nvSpPr>
        <p:spPr>
          <a:xfrm>
            <a:off x="9198864" y="1691640"/>
            <a:ext cx="2743200" cy="10972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9290292" y="1668697"/>
            <a:ext cx="2560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Sharpness</a:t>
            </a:r>
            <a:endParaRPr b="1" sz="1550"/>
          </a:p>
        </p:txBody>
      </p:sp>
      <p:sp>
        <p:nvSpPr>
          <p:cNvPr id="341" name="Google Shape;341;p22"/>
          <p:cNvSpPr txBox="1"/>
          <p:nvPr/>
        </p:nvSpPr>
        <p:spPr>
          <a:xfrm>
            <a:off x="9290292" y="1940010"/>
            <a:ext cx="256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0.731</a:t>
            </a:r>
            <a:endParaRPr sz="1500"/>
          </a:p>
        </p:txBody>
      </p:sp>
      <p:sp>
        <p:nvSpPr>
          <p:cNvPr id="342" name="Google Shape;342;p22"/>
          <p:cNvSpPr txBox="1"/>
          <p:nvPr/>
        </p:nvSpPr>
        <p:spPr>
          <a:xfrm>
            <a:off x="9290293" y="2377454"/>
            <a:ext cx="256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clean, crisp strokes</a:t>
            </a:r>
            <a:endParaRPr sz="1350"/>
          </a:p>
        </p:txBody>
      </p:sp>
      <p:sp>
        <p:nvSpPr>
          <p:cNvPr id="343" name="Google Shape;343;p22"/>
          <p:cNvSpPr/>
          <p:nvPr/>
        </p:nvSpPr>
        <p:spPr>
          <a:xfrm>
            <a:off x="457200" y="3017520"/>
            <a:ext cx="11247120" cy="35661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48655" y="3017523"/>
            <a:ext cx="548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Per-Category Breakdown</a:t>
            </a:r>
            <a:endParaRPr sz="1850"/>
          </a:p>
        </p:txBody>
      </p:sp>
      <p:graphicFrame>
        <p:nvGraphicFramePr>
          <p:cNvPr id="345" name="Google Shape;345;p22"/>
          <p:cNvGraphicFramePr/>
          <p:nvPr/>
        </p:nvGraphicFramePr>
        <p:xfrm>
          <a:off x="457200" y="3543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{26B87343-393D-4DE9-B350-2E1949609798}</a:tableStyleId>
              </a:tblPr>
              <a:tblGrid>
                <a:gridCol w="1371600"/>
                <a:gridCol w="1371600"/>
                <a:gridCol w="1371600"/>
                <a:gridCol w="1097275"/>
                <a:gridCol w="3017525"/>
                <a:gridCol w="301752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Category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Avg MSE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Threshold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Pass?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Hardest Char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Easiest Char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C107"/>
                          </a:solidFill>
                        </a:rPr>
                        <a:t>Uppercase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0.0046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&lt; 0.005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✓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D  0.018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L  0.0002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Lowercase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0.0045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&lt; 0.005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✓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e  0.017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i  0.0003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C8FF"/>
                          </a:solidFill>
                        </a:rPr>
                        <a:t>Digits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0.0032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&lt; 0.005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✓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C107"/>
                          </a:solidFill>
                        </a:rPr>
                        <a:t>9  0.011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5  0.001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Quality — All Generators</a:t>
            </a:r>
            <a:endParaRPr sz="3400"/>
          </a:p>
        </p:txBody>
      </p:sp>
      <p:sp>
        <p:nvSpPr>
          <p:cNvPr id="353" name="Google Shape;353;p23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Comparing the 4 approaches that actually generate new images</a:t>
            </a:r>
            <a:endParaRPr sz="2000"/>
          </a:p>
        </p:txBody>
      </p:sp>
      <p:graphicFrame>
        <p:nvGraphicFramePr>
          <p:cNvPr id="354" name="Google Shape;354;p23"/>
          <p:cNvGraphicFramePr/>
          <p:nvPr/>
        </p:nvGraphicFramePr>
        <p:xfrm>
          <a:off x="45720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{26B87343-393D-4DE9-B350-2E1949609798}</a:tableStyleId>
              </a:tblPr>
              <a:tblGrid>
                <a:gridCol w="1554475"/>
                <a:gridCol w="1188725"/>
                <a:gridCol w="2286000"/>
                <a:gridCol w="1371600"/>
                <a:gridCol w="2103125"/>
                <a:gridCol w="2743200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Approach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SSIM ↑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Ink Coverage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Sharpness ↑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Distinctiveness ↑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D1B2A"/>
                          </a:solidFill>
                        </a:rPr>
                        <a:t>Verdict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0C8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01  GAN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0.015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84%  ← blurry blob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0.72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0.014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Broken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03  Font CNN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0.906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0.14%  ← blank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0.73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0.000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Blank output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04  Bézier Reg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0.720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C107"/>
                          </a:solidFill>
                        </a:rPr>
                        <a:t>0.55%  low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C107"/>
                          </a:solidFill>
                        </a:rPr>
                        <a:t>0.64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4545"/>
                          </a:solidFill>
                        </a:rPr>
                        <a:t>0.004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C107"/>
                          </a:solidFill>
                        </a:rPr>
                        <a:t>Mode collapse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62A3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05  CharNet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0.851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2.5%  OK for curves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0.73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FFC107"/>
                          </a:solidFill>
                        </a:rPr>
                        <a:t>0.022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E676"/>
                          </a:solidFill>
                        </a:rPr>
                        <a:t>Best ✓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p23"/>
          <p:cNvSpPr txBox="1"/>
          <p:nvPr/>
        </p:nvSpPr>
        <p:spPr>
          <a:xfrm>
            <a:off x="457200" y="5943600"/>
            <a:ext cx="11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SSIM = Structural Similarity (1.0 = identical).  Ink Coverage = fraction of canvas covered by ink.  Distinctiveness = how different the 62 generated chars are from each other (0 = all identical).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Framework</a:t>
            </a:r>
            <a:endParaRPr sz="3400"/>
          </a:p>
        </p:txBody>
      </p:sp>
      <p:sp>
        <p:nvSpPr>
          <p:cNvPr id="363" name="Google Shape;363;p24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4 independent evaluation scripts covering every angle of model quality</a:t>
            </a:r>
            <a:endParaRPr sz="2000"/>
          </a:p>
        </p:txBody>
      </p:sp>
      <p:sp>
        <p:nvSpPr>
          <p:cNvPr id="364" name="Google Shape;364;p24"/>
          <p:cNvSpPr/>
          <p:nvPr/>
        </p:nvSpPr>
        <p:spPr>
          <a:xfrm>
            <a:off x="457200" y="1783080"/>
            <a:ext cx="5394960" cy="21488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457200" y="1783080"/>
            <a:ext cx="5394960" cy="64008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594360" y="2003133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eval_02_classifier.py</a:t>
            </a:r>
            <a:endParaRPr sz="1900"/>
          </a:p>
        </p:txBody>
      </p:sp>
      <p:sp>
        <p:nvSpPr>
          <p:cNvPr id="367" name="Google Shape;367;p24"/>
          <p:cNvSpPr txBox="1"/>
          <p:nvPr/>
        </p:nvSpPr>
        <p:spPr>
          <a:xfrm>
            <a:off x="594360" y="2463300"/>
            <a:ext cx="5029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Report · Confusion Matrices · t-SNE by Writer</a:t>
            </a:r>
            <a:endParaRPr sz="1750"/>
          </a:p>
        </p:txBody>
      </p:sp>
      <p:sp>
        <p:nvSpPr>
          <p:cNvPr id="368" name="Google Shape;368;p24"/>
          <p:cNvSpPr txBox="1"/>
          <p:nvPr/>
        </p:nvSpPr>
        <p:spPr>
          <a:xfrm>
            <a:off x="594360" y="3078900"/>
            <a:ext cx="50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Measures how well MultiTaskCNN identifies characters and writers</a:t>
            </a:r>
            <a:endParaRPr sz="1650"/>
          </a:p>
        </p:txBody>
      </p:sp>
      <p:sp>
        <p:nvSpPr>
          <p:cNvPr id="369" name="Google Shape;369;p24"/>
          <p:cNvSpPr/>
          <p:nvPr/>
        </p:nvSpPr>
        <p:spPr>
          <a:xfrm>
            <a:off x="457200" y="4160520"/>
            <a:ext cx="5394960" cy="21488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457200" y="4160520"/>
            <a:ext cx="539496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594360" y="4380573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eval_05_charnet.py</a:t>
            </a:r>
            <a:endParaRPr sz="1900"/>
          </a:p>
        </p:txBody>
      </p:sp>
      <p:sp>
        <p:nvSpPr>
          <p:cNvPr id="372" name="Google Shape;372;p24"/>
          <p:cNvSpPr txBox="1"/>
          <p:nvPr/>
        </p:nvSpPr>
        <p:spPr>
          <a:xfrm>
            <a:off x="594360" y="4840740"/>
            <a:ext cx="5029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Per-char MSE · Category MSE · Endpoint Deviation</a:t>
            </a:r>
            <a:endParaRPr sz="1750"/>
          </a:p>
        </p:txBody>
      </p:sp>
      <p:sp>
        <p:nvSpPr>
          <p:cNvPr id="373" name="Google Shape;373;p24"/>
          <p:cNvSpPr txBox="1"/>
          <p:nvPr/>
        </p:nvSpPr>
        <p:spPr>
          <a:xfrm>
            <a:off x="594360" y="5456340"/>
            <a:ext cx="50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Compares predicted Bézier curves against skeletonised ground truth</a:t>
            </a:r>
            <a:endParaRPr sz="1650"/>
          </a:p>
        </p:txBody>
      </p:sp>
      <p:sp>
        <p:nvSpPr>
          <p:cNvPr id="374" name="Google Shape;374;p24"/>
          <p:cNvSpPr/>
          <p:nvPr/>
        </p:nvSpPr>
        <p:spPr>
          <a:xfrm>
            <a:off x="6126480" y="1783080"/>
            <a:ext cx="5394960" cy="21488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6126480" y="1783080"/>
            <a:ext cx="5394960" cy="64008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6263640" y="2003133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eval_image_quality.py</a:t>
            </a:r>
            <a:endParaRPr sz="1900"/>
          </a:p>
        </p:txBody>
      </p:sp>
      <p:sp>
        <p:nvSpPr>
          <p:cNvPr id="377" name="Google Shape;377;p24"/>
          <p:cNvSpPr txBox="1"/>
          <p:nvPr/>
        </p:nvSpPr>
        <p:spPr>
          <a:xfrm>
            <a:off x="6263640" y="2463300"/>
            <a:ext cx="5029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SSIM · Sharpness · Ink Coverage · Distinctiveness</a:t>
            </a:r>
            <a:endParaRPr sz="1750"/>
          </a:p>
        </p:txBody>
      </p:sp>
      <p:sp>
        <p:nvSpPr>
          <p:cNvPr id="378" name="Google Shape;378;p24"/>
          <p:cNvSpPr txBox="1"/>
          <p:nvPr/>
        </p:nvSpPr>
        <p:spPr>
          <a:xfrm>
            <a:off x="6263640" y="3078900"/>
            <a:ext cx="50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Pixel-level quality comparison across all 4 generator approaches</a:t>
            </a:r>
            <a:endParaRPr sz="1650"/>
          </a:p>
        </p:txBody>
      </p:sp>
      <p:sp>
        <p:nvSpPr>
          <p:cNvPr id="379" name="Google Shape;379;p24"/>
          <p:cNvSpPr/>
          <p:nvPr/>
        </p:nvSpPr>
        <p:spPr>
          <a:xfrm>
            <a:off x="6126480" y="4160520"/>
            <a:ext cx="5394960" cy="21488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6126480" y="4160520"/>
            <a:ext cx="5394960" cy="64008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6263640" y="4380573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eval_ocr_benchmark.py</a:t>
            </a:r>
            <a:endParaRPr sz="1900"/>
          </a:p>
        </p:txBody>
      </p:sp>
      <p:sp>
        <p:nvSpPr>
          <p:cNvPr id="382" name="Google Shape;382;p24"/>
          <p:cNvSpPr txBox="1"/>
          <p:nvPr/>
        </p:nvSpPr>
        <p:spPr>
          <a:xfrm>
            <a:off x="6263640" y="4840740"/>
            <a:ext cx="5029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EasyOCR reads each generated char · Accuracy, F1 per approach</a:t>
            </a:r>
            <a:endParaRPr sz="1750"/>
          </a:p>
        </p:txBody>
      </p:sp>
      <p:sp>
        <p:nvSpPr>
          <p:cNvPr id="383" name="Google Shape;383;p24"/>
          <p:cNvSpPr txBox="1"/>
          <p:nvPr/>
        </p:nvSpPr>
        <p:spPr>
          <a:xfrm>
            <a:off x="6263640" y="5456340"/>
            <a:ext cx="50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Fairest cross-model benchmark — uses a neutral real-world OCR engine</a:t>
            </a:r>
            <a:endParaRPr sz="1650"/>
          </a:p>
        </p:txBody>
      </p:sp>
      <p:sp>
        <p:nvSpPr>
          <p:cNvPr id="384" name="Google Shape;384;p24"/>
          <p:cNvSpPr txBox="1"/>
          <p:nvPr/>
        </p:nvSpPr>
        <p:spPr>
          <a:xfrm>
            <a:off x="470975" y="6380485"/>
            <a:ext cx="112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All scripts write outputs to stats/outputs/ — charts + CSVs auto-generated.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 txBox="1"/>
          <p:nvPr/>
        </p:nvSpPr>
        <p:spPr>
          <a:xfrm>
            <a:off x="548640" y="594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 · What Didn't</a:t>
            </a:r>
            <a:endParaRPr sz="3400"/>
          </a:p>
        </p:txBody>
      </p:sp>
      <p:sp>
        <p:nvSpPr>
          <p:cNvPr id="392" name="Google Shape;392;p25"/>
          <p:cNvSpPr txBox="1"/>
          <p:nvPr/>
        </p:nvSpPr>
        <p:spPr>
          <a:xfrm>
            <a:off x="548640" y="11430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Honest assessment of each approach</a:t>
            </a:r>
            <a:endParaRPr sz="2000"/>
          </a:p>
        </p:txBody>
      </p:sp>
      <p:sp>
        <p:nvSpPr>
          <p:cNvPr id="393" name="Google Shape;393;p25"/>
          <p:cNvSpPr/>
          <p:nvPr/>
        </p:nvSpPr>
        <p:spPr>
          <a:xfrm>
            <a:off x="370200" y="1691625"/>
            <a:ext cx="5477400" cy="48921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370200" y="1691615"/>
            <a:ext cx="82200" cy="4892100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 txBox="1"/>
          <p:nvPr/>
        </p:nvSpPr>
        <p:spPr>
          <a:xfrm>
            <a:off x="685800" y="1810512"/>
            <a:ext cx="484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sz="1900"/>
          </a:p>
        </p:txBody>
      </p:sp>
      <p:sp>
        <p:nvSpPr>
          <p:cNvPr id="396" name="Google Shape;396;p25"/>
          <p:cNvSpPr txBox="1"/>
          <p:nvPr/>
        </p:nvSpPr>
        <p:spPr>
          <a:xfrm>
            <a:off x="685800" y="2286000"/>
            <a:ext cx="513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CharNet (05): MSE 0.0042 — below the 0.005 target</a:t>
            </a:r>
            <a:endParaRPr sz="1600"/>
          </a:p>
        </p:txBody>
      </p:sp>
      <p:sp>
        <p:nvSpPr>
          <p:cNvPr id="397" name="Google Shape;397;p25"/>
          <p:cNvSpPr txBox="1"/>
          <p:nvPr/>
        </p:nvSpPr>
        <p:spPr>
          <a:xfrm>
            <a:off x="685800" y="2944370"/>
            <a:ext cx="513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CharNet SSIM 0.851 — strong structural quality</a:t>
            </a:r>
            <a:endParaRPr sz="1600"/>
          </a:p>
        </p:txBody>
      </p:sp>
      <p:sp>
        <p:nvSpPr>
          <p:cNvPr id="398" name="Google Shape;398;p25"/>
          <p:cNvSpPr txBox="1"/>
          <p:nvPr/>
        </p:nvSpPr>
        <p:spPr>
          <a:xfrm>
            <a:off x="685800" y="3602740"/>
            <a:ext cx="513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CharNet sharpness 0.731 — clean crisp strokes</a:t>
            </a:r>
            <a:endParaRPr sz="1600"/>
          </a:p>
        </p:txBody>
      </p:sp>
      <p:sp>
        <p:nvSpPr>
          <p:cNvPr id="399" name="Google Shape;399;p25"/>
          <p:cNvSpPr txBox="1"/>
          <p:nvPr/>
        </p:nvSpPr>
        <p:spPr>
          <a:xfrm>
            <a:off x="685800" y="4261110"/>
            <a:ext cx="513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MultiTask CNN Top-5 accuracy 89.9% — right answer almost always in top 5</a:t>
            </a:r>
            <a:endParaRPr sz="1600"/>
          </a:p>
        </p:txBody>
      </p:sp>
      <p:sp>
        <p:nvSpPr>
          <p:cNvPr id="400" name="Google Shape;400;p25"/>
          <p:cNvSpPr txBox="1"/>
          <p:nvPr/>
        </p:nvSpPr>
        <p:spPr>
          <a:xfrm>
            <a:off x="685800" y="4919480"/>
            <a:ext cx="513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Bézier approach: SSIM 0.72 — reasonable structural match</a:t>
            </a:r>
            <a:endParaRPr sz="1600"/>
          </a:p>
        </p:txBody>
      </p:sp>
      <p:sp>
        <p:nvSpPr>
          <p:cNvPr id="401" name="Google Shape;401;p25"/>
          <p:cNvSpPr txBox="1"/>
          <p:nvPr/>
        </p:nvSpPr>
        <p:spPr>
          <a:xfrm>
            <a:off x="685800" y="5577850"/>
            <a:ext cx="513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Evaluation pipeline: 4 scripts, full metrics, reproducible</a:t>
            </a:r>
            <a:endParaRPr sz="1600"/>
          </a:p>
        </p:txBody>
      </p:sp>
      <p:sp>
        <p:nvSpPr>
          <p:cNvPr id="402" name="Google Shape;402;p25"/>
          <p:cNvSpPr/>
          <p:nvPr/>
        </p:nvSpPr>
        <p:spPr>
          <a:xfrm>
            <a:off x="6119650" y="1691600"/>
            <a:ext cx="5834100" cy="48921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6140385" y="1691653"/>
            <a:ext cx="82200" cy="4892100"/>
          </a:xfrm>
          <a:prstGeom prst="rect">
            <a:avLst/>
          </a:prstGeom>
          <a:solidFill>
            <a:srgbClr val="FF4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6388685" y="1810512"/>
            <a:ext cx="484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4545"/>
                </a:solidFill>
                <a:latin typeface="Calibri"/>
                <a:ea typeface="Calibri"/>
                <a:cs typeface="Calibri"/>
                <a:sym typeface="Calibri"/>
              </a:rPr>
              <a:t>What Didn't Work</a:t>
            </a:r>
            <a:endParaRPr sz="1900"/>
          </a:p>
        </p:txBody>
      </p:sp>
      <p:sp>
        <p:nvSpPr>
          <p:cNvPr id="405" name="Google Shape;405;p25"/>
          <p:cNvSpPr txBox="1"/>
          <p:nvPr/>
        </p:nvSpPr>
        <p:spPr>
          <a:xfrm>
            <a:off x="6398465" y="2286000"/>
            <a:ext cx="547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GAN: mode collapse — same blurry blob for all 62 chars</a:t>
            </a:r>
            <a:endParaRPr sz="1600"/>
          </a:p>
        </p:txBody>
      </p:sp>
      <p:sp>
        <p:nvSpPr>
          <p:cNvPr id="406" name="Google Shape;406;p25"/>
          <p:cNvSpPr txBox="1"/>
          <p:nvPr/>
        </p:nvSpPr>
        <p:spPr>
          <a:xfrm>
            <a:off x="6398465" y="2944370"/>
            <a:ext cx="547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Font CNN: generates nearly blank images (ink &lt; 0.2%)</a:t>
            </a:r>
            <a:endParaRPr sz="1600"/>
          </a:p>
        </p:txBody>
      </p:sp>
      <p:sp>
        <p:nvSpPr>
          <p:cNvPr id="407" name="Google Shape;407;p25"/>
          <p:cNvSpPr txBox="1"/>
          <p:nvPr/>
        </p:nvSpPr>
        <p:spPr>
          <a:xfrm>
            <a:off x="6398465" y="3602740"/>
            <a:ext cx="547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Bézier Reg: mode collapse — same average curve every time</a:t>
            </a:r>
            <a:endParaRPr sz="1600"/>
          </a:p>
        </p:txBody>
      </p:sp>
      <p:sp>
        <p:nvSpPr>
          <p:cNvPr id="408" name="Google Shape;408;p25"/>
          <p:cNvSpPr txBox="1"/>
          <p:nvPr/>
        </p:nvSpPr>
        <p:spPr>
          <a:xfrm>
            <a:off x="6398465" y="4261110"/>
            <a:ext cx="547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MultiTask CNN: digits 0-8 all 0% F1 — failed digit classes</a:t>
            </a:r>
            <a:endParaRPr sz="1600"/>
          </a:p>
        </p:txBody>
      </p:sp>
      <p:sp>
        <p:nvSpPr>
          <p:cNvPr id="409" name="Google Shape;409;p25"/>
          <p:cNvSpPr txBox="1"/>
          <p:nvPr/>
        </p:nvSpPr>
        <p:spPr>
          <a:xfrm>
            <a:off x="6398465" y="4919480"/>
            <a:ext cx="547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MultiTask CNN writer accuracy 31.9% — barely above chance</a:t>
            </a:r>
            <a:endParaRPr sz="1600"/>
          </a:p>
        </p:txBody>
      </p:sp>
      <p:sp>
        <p:nvSpPr>
          <p:cNvPr id="410" name="Google Shape;410;p25"/>
          <p:cNvSpPr txBox="1"/>
          <p:nvPr/>
        </p:nvSpPr>
        <p:spPr>
          <a:xfrm>
            <a:off x="6398465" y="5577850"/>
            <a:ext cx="547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Distinctiveness across all models is low — chars too similar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-25" y="1354700"/>
            <a:ext cx="12189000" cy="2838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0" y="1354700"/>
            <a:ext cx="164700" cy="2838600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548640" y="502920"/>
            <a:ext cx="1109167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 txBox="1"/>
          <p:nvPr/>
        </p:nvSpPr>
        <p:spPr>
          <a:xfrm>
            <a:off x="548640" y="59436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731457" y="1767840"/>
            <a:ext cx="10698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Simplicity beat complexity.</a:t>
            </a:r>
            <a:endParaRPr sz="1500"/>
          </a:p>
        </p:txBody>
      </p:sp>
      <p:sp>
        <p:nvSpPr>
          <p:cNvPr id="421" name="Google Shape;421;p26"/>
          <p:cNvSpPr txBox="1"/>
          <p:nvPr/>
        </p:nvSpPr>
        <p:spPr>
          <a:xfrm>
            <a:off x="731457" y="2487533"/>
            <a:ext cx="10698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CharNet — a single embedding layer + MLP — outperformed a GAN, a U-Net, and a CNN regression model on every meaningful metric. It achieves Bézier MSE of 0.0042 (target &lt; 0.005), SSIM of 0.851, and crisp sharpness of 0.731 with no reference image required.</a:t>
            </a:r>
            <a:endParaRPr sz="1700"/>
          </a:p>
        </p:txBody>
      </p:sp>
      <p:sp>
        <p:nvSpPr>
          <p:cNvPr id="422" name="Google Shape;422;p26"/>
          <p:cNvSpPr/>
          <p:nvPr/>
        </p:nvSpPr>
        <p:spPr>
          <a:xfrm>
            <a:off x="457188" y="4382645"/>
            <a:ext cx="3657600" cy="1965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457188" y="4428370"/>
            <a:ext cx="3657600" cy="639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 txBox="1"/>
          <p:nvPr/>
        </p:nvSpPr>
        <p:spPr>
          <a:xfrm>
            <a:off x="585141" y="4565986"/>
            <a:ext cx="338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Lesson 1 — Match the representation to the task</a:t>
            </a:r>
            <a:endParaRPr sz="1600"/>
          </a:p>
        </p:txBody>
      </p:sp>
      <p:sp>
        <p:nvSpPr>
          <p:cNvPr id="425" name="Google Shape;425;p26"/>
          <p:cNvSpPr txBox="1"/>
          <p:nvPr/>
        </p:nvSpPr>
        <p:spPr>
          <a:xfrm>
            <a:off x="585129" y="5193767"/>
            <a:ext cx="338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Bézier curves are a natural fit for strokes. Pixels are not.</a:t>
            </a:r>
            <a:endParaRPr sz="1500"/>
          </a:p>
        </p:txBody>
      </p:sp>
      <p:sp>
        <p:nvSpPr>
          <p:cNvPr id="426" name="Google Shape;426;p26"/>
          <p:cNvSpPr/>
          <p:nvPr/>
        </p:nvSpPr>
        <p:spPr>
          <a:xfrm>
            <a:off x="4361675" y="4382645"/>
            <a:ext cx="3657600" cy="1965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4361675" y="4428370"/>
            <a:ext cx="3657600" cy="63900"/>
          </a:xfrm>
          <a:prstGeom prst="rect">
            <a:avLst/>
          </a:prstGeom>
          <a:solidFill>
            <a:srgbClr val="7B2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 txBox="1"/>
          <p:nvPr/>
        </p:nvSpPr>
        <p:spPr>
          <a:xfrm>
            <a:off x="4489628" y="4565986"/>
            <a:ext cx="338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Lesson 2 — Data quality beats model complexity</a:t>
            </a:r>
            <a:endParaRPr sz="1600"/>
          </a:p>
        </p:txBody>
      </p:sp>
      <p:sp>
        <p:nvSpPr>
          <p:cNvPr id="429" name="Google Shape;429;p26"/>
          <p:cNvSpPr txBox="1"/>
          <p:nvPr/>
        </p:nvSpPr>
        <p:spPr>
          <a:xfrm>
            <a:off x="4489616" y="5193767"/>
            <a:ext cx="3383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approaches shared the same 2,100-image dataset. Simpler models generalised better.</a:t>
            </a:r>
            <a:endParaRPr sz="1500"/>
          </a:p>
        </p:txBody>
      </p:sp>
      <p:sp>
        <p:nvSpPr>
          <p:cNvPr id="430" name="Google Shape;430;p26"/>
          <p:cNvSpPr/>
          <p:nvPr/>
        </p:nvSpPr>
        <p:spPr>
          <a:xfrm>
            <a:off x="8266162" y="4382645"/>
            <a:ext cx="3657600" cy="19659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8266162" y="4428370"/>
            <a:ext cx="3657600" cy="63900"/>
          </a:xfrm>
          <a:prstGeom prst="rect">
            <a:avLst/>
          </a:prstGeom>
          <a:solidFill>
            <a:srgbClr val="00E67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8394115" y="4565986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Lesson 3 — Evaluate honestly</a:t>
            </a:r>
            <a:endParaRPr sz="1600"/>
          </a:p>
        </p:txBody>
      </p:sp>
      <p:sp>
        <p:nvSpPr>
          <p:cNvPr id="433" name="Google Shape;433;p26"/>
          <p:cNvSpPr txBox="1"/>
          <p:nvPr/>
        </p:nvSpPr>
        <p:spPr>
          <a:xfrm>
            <a:off x="8394103" y="5193767"/>
            <a:ext cx="3383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Mode collapse and blank outputs are real failures. Our eval scripts caught them objectively.</a:t>
            </a:r>
            <a:endParaRPr sz="1500"/>
          </a:p>
        </p:txBody>
      </p:sp>
      <p:sp>
        <p:nvSpPr>
          <p:cNvPr id="434" name="Google Shape;434;p26"/>
          <p:cNvSpPr txBox="1"/>
          <p:nvPr/>
        </p:nvSpPr>
        <p:spPr>
          <a:xfrm>
            <a:off x="470975" y="6449385"/>
            <a:ext cx="112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74766"/>
                </a:solidFill>
                <a:latin typeface="Calibri"/>
                <a:ea typeface="Calibri"/>
                <a:cs typeface="Calibri"/>
                <a:sym typeface="Calibri"/>
              </a:rPr>
              <a:t>BSAI24082   BSAI24060   BSAI24022   BSAI24067</a:t>
            </a:r>
            <a:endParaRPr>
              <a:solidFill>
                <a:srgbClr val="374766"/>
              </a:solidFill>
            </a:endParaRPr>
          </a:p>
        </p:txBody>
      </p:sp>
      <p:sp>
        <p:nvSpPr>
          <p:cNvPr id="435" name="Google Shape;435;p26"/>
          <p:cNvSpPr txBox="1"/>
          <p:nvPr/>
        </p:nvSpPr>
        <p:spPr>
          <a:xfrm>
            <a:off x="9826475" y="6395250"/>
            <a:ext cx="217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74766"/>
                </a:solidFill>
                <a:latin typeface="Calibri"/>
                <a:ea typeface="Calibri"/>
                <a:cs typeface="Calibri"/>
                <a:sym typeface="Calibri"/>
              </a:rPr>
              <a:t>Programming for AI - Sem 4</a:t>
            </a:r>
            <a:endParaRPr>
              <a:solidFill>
                <a:srgbClr val="3747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