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5603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164592" cy="256032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AI-Powered Handwriting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C8FF"/>
                </a:solidFill>
              </a:rPr>
              <a:t>Generation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0BEC5"/>
                </a:solidFill>
              </a:rPr>
              <a:t>Exploring 5 deep-learning approaches to generate realistic handwriting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BEC5"/>
                </a:solidFill>
              </a:rPr>
              <a:t>Abdullah Shahzad  ·  BSAI24082  ·  Programming for AI  ·  Semester 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5486400"/>
            <a:ext cx="137160" cy="1371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5486400"/>
            <a:ext cx="137160" cy="13716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0" y="5486400"/>
            <a:ext cx="137160" cy="13716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What we built and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What we built and why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657600" cy="43891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657600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FF"/>
                </a:solidFill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Build a system that generates realistic handwriting for any letter (a–z, A–Z) and digit (0–9) in the style of real writers.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37360"/>
            <a:ext cx="3657600" cy="43891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737360"/>
            <a:ext cx="3657600" cy="7315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87451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B2FFF"/>
                </a:solidFill>
              </a:rPr>
              <a:t>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8600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Handwriting is highly personal — same character looks completely different across writers. Models must capture style, not just shape.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737360"/>
            <a:ext cx="3657600" cy="43891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737360"/>
            <a:ext cx="3657600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87451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676"/>
                </a:solidFill>
              </a:rPr>
              <a:t>Approach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28600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We designed and compared 5 different deep-learning methods ranging from GANs to Bézier-curve regressors, finding the best trade-off between complexity and quality.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7474F"/>
                </a:solidFill>
              </a:rPr>
              <a:t>62 unique characters  ·  6 real writers  ·  ~2,100 handwriting samples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Real handwriting samples collected from 6 writers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651760" cy="10972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Writers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C8FF"/>
                </a:solidFill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5059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737360"/>
            <a:ext cx="2651760" cy="10972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PNG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C8FF"/>
                </a:solidFill>
              </a:rPr>
              <a:t>~2,100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245059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2651760" cy="10972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783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Characters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C8FF"/>
                </a:solidFill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5059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1737360"/>
            <a:ext cx="2651760" cy="10972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5168" y="1783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Samples / char / writer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C8FF"/>
                </a:solidFill>
              </a:rPr>
              <a:t>~33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8" y="245059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5303520" cy="34747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Writers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66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writer_Abdullah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233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writer_abdullah_60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480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writer_Fatima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9377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writer_Hamza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writer_Hashim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852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writer_Salman_24067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017520"/>
            <a:ext cx="5577840" cy="34747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154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Character 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611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Lowercase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8FF"/>
                </a:solidFill>
              </a:rPr>
              <a:t>a – 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Uppercase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297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E676"/>
                </a:solidFill>
              </a:rPr>
              <a:t>A – Z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983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Digits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983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C107"/>
                </a:solidFill>
              </a:rPr>
              <a:t>0 –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4864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BEC5"/>
                </a:solidFill>
              </a:rPr>
              <a:t>File pattern:  WriterName_lc_a_r01.png  (lc = lowercase, uc = uppercase, n = digit)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5 Approaches — Side by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We explored the solution space from pixel-level GANs to simple curve regressors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93726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463040"/>
                <a:gridCol w="1280160"/>
                <a:gridCol w="4480560"/>
                <a:gridCol w="1737360"/>
              </a:tblGrid>
              <a:tr h="8077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0D1B2A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0D1B2A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0D1B2A"/>
                          </a:solidFill>
                        </a:rPr>
                        <a:t>Generates?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0D1B2A"/>
                          </a:solidFill>
                        </a:rPr>
                        <a:t>How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0D1B2A"/>
                          </a:solidFill>
                        </a:rPr>
                        <a:t>Outcome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01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GAN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Yes — pixels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Style encoder + Generator + AC-GAN Discriminator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Mode collapse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02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MultiTaskCNN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C107"/>
                          </a:solidFill>
                        </a:rPr>
                        <a:t>No — classifier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Two heads: predicts char &amp; writer from real images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C107"/>
                          </a:solidFill>
                        </a:rPr>
                        <a:t>57.6% char acc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03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Font CNN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Yes — pixels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U-Net translates font glyph → handwriting style image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Blank output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Bézier Reg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Yes — curves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CNN: reference photo → 6 Bézier curves → rendered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Mode collapse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05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CharNet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Yes — curves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Char index → 6 Bézier curves → rendered  (no ref needed)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Best ✓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Approach 01 — 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Generative Adversarial Network  ·  pixel-level image 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3200400" cy="25603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3200400" cy="6400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019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Style Encoder (CNN)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Reads a real reference photo
and compresses it into a
style vector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783080"/>
            <a:ext cx="3200400" cy="25603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783080"/>
            <a:ext cx="3200400" cy="64008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9080" y="19019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2FFF"/>
                </a:solidFill>
              </a:rPr>
              <a:t>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233172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Takes style vector + char label
and produces a full
handwriting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1783080"/>
            <a:ext cx="3200400" cy="25603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06640" y="1783080"/>
            <a:ext cx="3200400" cy="6400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19019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676"/>
                </a:solidFill>
              </a:rPr>
              <a:t>Discriminator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233172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AC-GAN: judges real vs fake
and also predicts the
character label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C8FF"/>
                </a:solidFill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C8FF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63440"/>
            <a:ext cx="11247120" cy="19202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545"/>
                </a:solidFill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1206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107"/>
                </a:solidFill>
              </a:rPr>
              <a:t>Mode collapse: 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the generator ignored the character label and always produced the same blurry blob regardless of input. Root cause — reference image was the same (dataset[0]) for all 62 characters; fixed in generate() but image quality remained poor.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Approach 02 — MultiTaskCNN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C107"/>
                </a:solidFill>
              </a:rPr>
              <a:t>Classification model — not a generator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029200" cy="48463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• Takes a real handwriting image as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7919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• Two classification heads: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    – Character head: which of 62 characters?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5701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    – Writer head: which of 6 writers?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95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• This is a classifier, not a generator.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7375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• Output = your own dataset photos with labels.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126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• Useful for style-feature extraction 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5157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  verifying the dataset is well-structured.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691640"/>
            <a:ext cx="5852160" cy="48463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18105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Char Accuracy (Top-1)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651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C107"/>
                </a:solidFill>
              </a:rPr>
              <a:t>57.6 %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791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BEC5"/>
                </a:solidFill>
              </a:rPr>
              <a:t>mediocre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337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Char Accuracy (Top-5)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E676"/>
                </a:solidFill>
              </a:rPr>
              <a:t>89.9 %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6850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BEC5"/>
                </a:solidFill>
              </a:rPr>
              <a:t>good — right answer in top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343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Writer Accuracy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545"/>
                </a:solidFill>
              </a:rPr>
              <a:t>31.9 %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690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BEC5"/>
                </a:solidFill>
              </a:rPr>
              <a:t>poor  (random chance = 16.7 %)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50749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⚠  Digits (0-8) all 0% F1 — model didn't learn digit classes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Approach 03 — Font to Handwriting 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U-Net translates a font-rendered glyph into a writer's style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2743200" cy="24688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2743200" cy="6400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928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Font Renderer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30428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PIL renders the target
character in a clean
computer font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783080"/>
            <a:ext cx="2743200" cy="24688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783080"/>
            <a:ext cx="2743200" cy="64008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8928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2FFF"/>
                </a:solidFill>
              </a:rPr>
              <a:t>U-Net Encoder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0428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Downsamples the font
glyph extracting spatial
features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6" y="1783080"/>
            <a:ext cx="2743200" cy="24688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1783080"/>
            <a:ext cx="2743200" cy="6400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18928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</a:rPr>
              <a:t>Style Injection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30428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Writer style vector
injected at the bottleneck
via FiLM layers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98864" y="1783080"/>
            <a:ext cx="2743200" cy="24688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98864" y="1783080"/>
            <a:ext cx="274320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08592" y="18928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U-Net Decoder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230428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Upsamples back to
full resolution with
skip connections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8FF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328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8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8FF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11247120" cy="21488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526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545"/>
                </a:solidFill>
              </a:rPr>
              <a:t>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4632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SSIM: 0.906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2578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Structurally matches
reference (looks great
on paper)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84632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545"/>
                </a:solidFill>
              </a:rPr>
              <a:t>Ink coverage: 0.14%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52578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Nearly blank output —
model generates almost
no visible 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4632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545"/>
                </a:solidFill>
              </a:rPr>
              <a:t>Distinctiveness: 0.0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2578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All 62 outputs identical —
complete failure
to differentiate characters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Approach 04 — Bézier Curve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CNN predicts stroke paths instead of pixel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577840" cy="48463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BEC5"/>
                </a:solidFill>
              </a:rPr>
              <a:t>1.  Reference photo of a character is fed in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2.  CNN backbone (ResNet-style) extracts features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3.  Regression head outputs 6 × 8 = 48 values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    (6 cubic Bézier curves × 4 control points × 2 coords)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4.  Curves are rendered onto a blank canvas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5.  Ground truth: real images → skeletonise → fit curves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6.  Loss = MSE between predicted and real curves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91640"/>
            <a:ext cx="5303520" cy="484632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105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31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SSIM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243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E676"/>
                </a:solidFill>
              </a:rPr>
              <a:t>0.720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6517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BEC5"/>
                </a:solidFill>
              </a:rPr>
              <a:t>reasonable structural similarity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337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Ink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6301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545"/>
                </a:solidFill>
              </a:rPr>
              <a:t>0.55%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6576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BEC5"/>
                </a:solidFill>
              </a:rPr>
              <a:t>very low — sparse strokes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3434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Distinctiveness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63600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545"/>
                </a:solidFill>
              </a:rPr>
              <a:t>0.004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663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BEC5"/>
                </a:solidFill>
              </a:rPr>
              <a:t>near-zero — mode collapse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0292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C107"/>
                </a:solidFill>
              </a:rPr>
              <a:t>Issue: model always predicts the same average curve
regardless of which character was requested.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Approach 05 — CharNet  (Best Model)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E676"/>
                </a:solidFill>
              </a:rPr>
              <a:t>Simplest approach — and the one that actually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3931920" cy="34747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09728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No reference image needed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2743200" cy="265176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2743200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90195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Char Index
(0 – 61)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487168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Input: a single integer
identifying which character
to generate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0128" y="1783080"/>
            <a:ext cx="2743200" cy="265176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0128" y="1783080"/>
            <a:ext cx="2743200" cy="7315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190195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2FFF"/>
                </a:solidFill>
              </a:rPr>
              <a:t>Embedding
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2487168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Maps char index to a
learned 64-dim vector
(like word embeddings)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1783080"/>
            <a:ext cx="2743200" cy="265176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783080"/>
            <a:ext cx="2743200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90195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</a:rPr>
              <a:t>MLP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487168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3 fully-connected layers
predict 48 floats
(6 curves × 8 coords)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1783080"/>
            <a:ext cx="2743200" cy="265176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783080"/>
            <a:ext cx="2743200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190195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Bézier
Renderer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87168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Control points drawn onto
a 128×128 canvas
using cubic splines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26517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E676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26517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E67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26517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E67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663440"/>
            <a:ext cx="11247120" cy="19202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</a:rPr>
              <a:t>Why It Works Better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6636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• No style ambiguity: 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each character index maps to one and only one output — no confusion from mismatched references.   </a:t>
            </a:r>
          </a:p>
          <a:p>
            <a:pPr algn="l"/>
            <a:r>
              <a:rPr sz="1200" b="1">
                <a:solidFill>
                  <a:srgbClr val="FFFFFF"/>
                </a:solidFill>
              </a:rPr>
              <a:t>• Simpler task: 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the model only needs to learn 62 prototypical stroke shapes, not per-writer variation.   </a:t>
            </a:r>
          </a:p>
          <a:p>
            <a:pPr algn="l"/>
            <a:r>
              <a:rPr sz="1200" b="1">
                <a:solidFill>
                  <a:srgbClr val="FFFFFF"/>
                </a:solidFill>
              </a:rPr>
              <a:t>• Bézier representation: </a:t>
            </a:r>
          </a:p>
          <a:p>
            <a:pPr algn="l"/>
            <a:r>
              <a:rPr sz="1200" b="0">
                <a:solidFill>
                  <a:srgbClr val="B0BEC5"/>
                </a:solidFill>
              </a:rPr>
              <a:t>predicting curves (not pixels) is a lower-dimensional, smoother regression target.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CharNet — Evaluation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Approach 05  ·  Trained for 105 epochs on T4 GPU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2743200" cy="10972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Overall MSE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E676"/>
                </a:solidFill>
              </a:rPr>
              <a:t>0.0042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404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target &lt; 0.005  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691640"/>
            <a:ext cx="2743200" cy="10972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Endpoint Deviation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C107"/>
                </a:solidFill>
              </a:rPr>
              <a:t>0.074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404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slightly above 0.05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6" y="1691640"/>
            <a:ext cx="2743200" cy="10972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E676"/>
                </a:solidFill>
              </a:rPr>
              <a:t>0.851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404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strong structural similarity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98864" y="1691640"/>
            <a:ext cx="2743200" cy="10972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8592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Sharpness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E676"/>
                </a:solidFill>
              </a:rPr>
              <a:t>0.731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2404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clean, crisp strokes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11247120" cy="356616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1272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Per-Category Breakdown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3493008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097280"/>
                <a:gridCol w="3017520"/>
                <a:gridCol w="301752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Avg MSE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Pass?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Hardest Char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Easiest Char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C107"/>
                          </a:solidFill>
                        </a:rPr>
                        <a:t>Uppercase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0.0046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&lt; 0.005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D  0.018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L  0.0002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Lowercase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0.0045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&lt; 0.005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e  0.017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i  0.0003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C8FF"/>
                          </a:solidFill>
                        </a:rPr>
                        <a:t>Digits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0.0032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&lt; 0.005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C107"/>
                          </a:solidFill>
                        </a:rPr>
                        <a:t>9  0.011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5  0.001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Image Quality — All Generators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Comparing the 4 approaches that actually generate new images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188720"/>
                <a:gridCol w="2286000"/>
                <a:gridCol w="1371600"/>
                <a:gridCol w="2103120"/>
                <a:gridCol w="2743200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SSIM ↑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Ink Coverage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Sharpness ↑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Distinctiveness ↑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D1B2A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00C8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01  GAN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0.015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84%  ← blurry blob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0.72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0.014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Broken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03  Font CNN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0.14%  ← blank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0.73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Blank output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04  Bézier Reg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C107"/>
                          </a:solidFill>
                        </a:rPr>
                        <a:t>0.55%  low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C107"/>
                          </a:solidFill>
                        </a:rPr>
                        <a:t>0.64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4545"/>
                          </a:solidFill>
                        </a:rPr>
                        <a:t>0.004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C107"/>
                          </a:solidFill>
                        </a:rPr>
                        <a:t>Mode collapse</a:t>
                      </a:r>
                    </a:p>
                  </a:txBody>
                  <a:tcPr>
                    <a:solidFill>
                      <a:srgbClr val="162A3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05  CharNet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2.5%  OK for curves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0.73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C107"/>
                          </a:solidFill>
                        </a:rPr>
                        <a:t>0.022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E676"/>
                          </a:solidFill>
                        </a:rPr>
                        <a:t>Best ✓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BEC5"/>
                </a:solidFill>
              </a:rPr>
              <a:t>SSIM = Structural Similarity (1.0 = identical).  Ink Coverage = fraction of canvas covered by ink.  Distinctiveness = how different the 62 generated chars are from each other (0 = all identical).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4 independent evaluation scripts covering every angle of model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5394960" cy="21488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5394960" cy="6400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928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eval_02_classifier.py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Classification Report · Confusion Matrices · t-SNE by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BEC5"/>
                </a:solidFill>
              </a:rPr>
              <a:t>Measures how well MultiTaskCNN identifies characters and writers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60520"/>
            <a:ext cx="5394960" cy="21488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160520"/>
            <a:ext cx="5394960" cy="6400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2702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</a:rPr>
              <a:t>eval_05_charnet.py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663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Per-char MSE · Category MSE · Endpoint Deviation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12064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BEC5"/>
                </a:solidFill>
              </a:rPr>
              <a:t>Compares predicted Bézier curves against skeletonised ground truth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783080"/>
            <a:ext cx="5394960" cy="21488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783080"/>
            <a:ext cx="5394960" cy="64008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8928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2FFF"/>
                </a:solidFill>
              </a:rPr>
              <a:t>eval_image_quality.py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SSIM · Sharpness · Ink Coverage · Distinctiveness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7432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BEC5"/>
                </a:solidFill>
              </a:rPr>
              <a:t>Pixel-level quality comparison across all 4 generator approaches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160520"/>
            <a:ext cx="5394960" cy="21488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160520"/>
            <a:ext cx="539496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2702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eval_ocr_benchmark.py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663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EasyOCR reads each generated char · Accuracy, F1 per approach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12064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BEC5"/>
                </a:solidFill>
              </a:rPr>
              <a:t>Fairest cross-model benchmark — uses a neutral real-world OCR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7474F"/>
                </a:solidFill>
              </a:rPr>
              <a:t>All scripts write outputs to stats/outputs/ — charts + CSVs auto-generated.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Worked · What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Honest assessment of each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394960" cy="48920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82296" cy="489204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676"/>
                </a:solidFill>
              </a:rPr>
              <a:t>What Worked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✓  CharNet (05): MSE 0.0042 — below the 0.005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✓  CharNet SSIM 0.851 — strong structural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02736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✓  CharNet sharpness 0.731 — clean crisp strokes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61104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✓  MultiTaskCNN Top-5 accuracy 89.9% — right answer almost always in top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19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✓  Bézier approach: SSIM 0.72 — reasonable structural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5778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✓  Evaluation pipeline: 4 scripts, full metrics, reproducible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91640"/>
            <a:ext cx="5394960" cy="489204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691640"/>
            <a:ext cx="82296" cy="489204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105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4545"/>
                </a:solidFill>
              </a:rPr>
              <a:t>What Didn't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8600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✗  GAN: mode collapse — same blurry blob for all 62 chars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944368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✗  Font CNN: generates nearly blank images (ink &lt; 0.2%)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602736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✗  Bézier Reg: mode collapse — same average curve every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261104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✗  MultiTaskCNN: digits 0-8 all 0% F1 — failed digit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919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✗  MultiTaskCNN writer accuracy 31.9% — barely above chance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5778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✗  Distinctiveness across all models is low — chars too similar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88952" cy="292608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0"/>
            <a:ext cx="164592" cy="292608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E676"/>
                </a:solidFill>
              </a:rPr>
              <a:t>Simplicity beat complexity.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EC5"/>
                </a:solidFill>
              </a:rPr>
              <a:t>CharNet — a single embedding layer + MLP — outperformed a GAN, a U-Net, and a CNN regression model on every meaningful metric. It achieves Bézier MSE of 0.0042 (target &lt; 0.005), SSIM of 0.851, and crisp sharpness of 0.731 with no reference image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617720"/>
            <a:ext cx="3657600" cy="196596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617720"/>
            <a:ext cx="3657600" cy="6400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47274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F"/>
                </a:solidFill>
              </a:rPr>
              <a:t>Lesson 1 — Match the representation to the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51937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Bézier curves are a natural fit for strokes. Pixels are not.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7" y="4617720"/>
            <a:ext cx="3657600" cy="196596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7" y="4617720"/>
            <a:ext cx="3657600" cy="64008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3" y="47274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2FFF"/>
                </a:solidFill>
              </a:rPr>
              <a:t>Lesson 2 — Data quality beats model complexity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3" y="51937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All approaches shared the same 2,100-image dataset. Simpler models generalised better.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6174" y="4617720"/>
            <a:ext cx="3657600" cy="1965960"/>
          </a:xfrm>
          <a:prstGeom prst="rect">
            <a:avLst/>
          </a:prstGeom>
          <a:solidFill>
            <a:srgbClr val="16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66174" y="4617720"/>
            <a:ext cx="3657600" cy="6400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0" y="47274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676"/>
                </a:solidFill>
              </a:rPr>
              <a:t>Lesson 3 — Evaluate honestly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0" y="51937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Mode collapse and blank outputs are real failures. Our eval scripts caught them objectively.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7474F"/>
                </a:solidFill>
              </a:rPr>
              <a:t>Abdullah Shahzad  ·  BSAI24082  ·  Programming for AI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